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D6D6D6"/>
    <a:srgbClr val="E8E8E8"/>
    <a:srgbClr val="E6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227" dt="2026-10-08T23:55:09.057"/>
    <p1510:client id="{0A020E7C-1732-BD6E-761D-70C3E59B68C3}" v="165" dt="2026-10-08T12:53:05.769"/>
    <p1510:client id="{0BC49697-A3F2-E031-3FD1-B53DB9F0409A}" v="583" dt="2026-10-09T10:14:05.914"/>
    <p1510:client id="{1A3109A9-96B0-8AC0-2C62-FE9D8C692083}" v="20" dt="2026-10-08T18:37:16.262"/>
    <p1510:client id="{58F2F314-6804-84CE-6250-6DB279F7DC53}" v="68" dt="2026-10-07T18:11:55.970"/>
    <p1510:client id="{6E1B726E-2EB3-5A74-D4D5-6DB4BFAE4FCD}" v="746" dt="2026-10-09T08:33:43.266"/>
    <p1510:client id="{8477E5B9-9D38-8CF7-6C4B-E47F17121CFC}" v="466" dt="2026-10-08T23:37:31.434"/>
    <p1510:client id="{9CB3812D-5F2C-3671-1ED1-1C60E5245DB5}" v="27" dt="2026-10-08T21:52:23.847"/>
    <p1510:client id="{9ECB3AD8-0891-E46F-D4E8-36BE29711F3F}" v="177" dt="2026-10-08T19:06:26.219"/>
    <p1510:client id="{A4F0E7BC-BD98-7736-E618-7DF29D42D550}" v="187" dt="2026-10-09T11:00:21.238"/>
    <p1510:client id="{B0DBEF7A-4354-FB49-8F04-DA997CF0E249}" v="1" dt="2026-10-08T22:22:28.971"/>
    <p1510:client id="{D3966DD4-CBAF-EA4E-F047-C7980B74FB61}" v="207" dt="2026-10-09T09:26:20.223"/>
    <p1510:client id="{D434E131-485C-145F-E8CE-83A4453BD624}" v="1748" dt="2026-10-08T07:56:19.671"/>
    <p1510:client id="{D5E0E316-1E1C-5421-3A57-C4946556F73E}" v="44" dt="2026-10-08T18:13:43.321"/>
    <p1510:client id="{DE0D05C1-26C2-4AE2-BA05-C570265ADA82}" v="804" dt="2026-10-08T09:33:08.267"/>
    <p1510:client id="{DF37A6E4-4643-65DA-CB99-52B004F613F5}" v="140" dt="2026-10-07T20:04:38.285"/>
    <p1510:client id="{DFF1234E-9856-45C8-A535-86ED746929A9}" v="48" dt="2026-10-09T06:50:15.917"/>
    <p1510:client id="{E163E80A-3BB9-1496-C682-04CA0E355E30}" v="852" dt="2026-10-08T20:31:40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_110_F466C10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Jeu de test : accuracy et macro-F1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56082"/>
            </a:solidFill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MLP</c:v>
                </c:pt>
                <c:pt idx="1">
                  <c:v>CNN de base (E0)</c:v>
                </c:pt>
                <c:pt idx="2">
                  <c:v>Modèle final (E2)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0.40699999999999997</c:v>
                </c:pt>
                <c:pt idx="1">
                  <c:v>0.55500000000000005</c:v>
                </c:pt>
                <c:pt idx="2">
                  <c:v>0.65500000000000003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F47-4D57-A204-45DF897C66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C04F15"/>
            </a:solidFill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MLP</c:v>
                </c:pt>
                <c:pt idx="1">
                  <c:v>CNN de base (E0)</c:v>
                </c:pt>
                <c:pt idx="2">
                  <c:v>Modèle final (E2)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0.32600000000000001</c:v>
                </c:pt>
                <c:pt idx="1">
                  <c:v>0.52500000000000002</c:v>
                </c:pt>
                <c:pt idx="2">
                  <c:v>0.64300000000000002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F47-4D57-A204-45DF897C66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  <a:endParaRPr lang="en-US"/>
          </a:p>
        </c:txPr>
        <c:crossAx val="-2068027336"/>
        <c:crosses val="autoZero"/>
        <c:crossBetween val="between"/>
        <c:majorUnit val="0.2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21" Type="http://schemas.openxmlformats.org/officeDocument/2006/relationships/image" Target="../media/image20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Relationship Id="rId22" Type="http://schemas.openxmlformats.org/officeDocument/2006/relationships/image" Target="../media/image2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image" Target="../media/image1.jpeg"/><Relationship Id="rId21" Type="http://schemas.openxmlformats.org/officeDocument/2006/relationships/image" Target="../media/image19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image" Target="../media/image22.png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23" Type="http://schemas.openxmlformats.org/officeDocument/2006/relationships/image" Target="../media/image21.jpeg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549083"/>
            <a:ext cx="9144000" cy="2387600"/>
          </a:xfrm>
        </p:spPr>
        <p:txBody>
          <a:bodyPr/>
          <a:lstStyle/>
          <a:p>
            <a:r>
              <a:rPr lang="fr-FR">
                <a:ea typeface="+mj-lt"/>
                <a:cs typeface="+mj-lt"/>
              </a:rPr>
              <a:t>Reconnaissance d’expressions faciales</a:t>
            </a:r>
            <a:endParaRPr lang="zh-CN" alt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4282758"/>
            <a:ext cx="9144000" cy="9547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>
                <a:ea typeface="+mn-lt"/>
                <a:cs typeface="+mn-lt"/>
              </a:rPr>
              <a:t>Classification de 7 expressions avec un réseau de neurones convolutif (CNN)</a:t>
            </a:r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D90938-FA92-05C1-C159-BF0D2B9F4B20}"/>
              </a:ext>
            </a:extLst>
          </p:cNvPr>
          <p:cNvSpPr/>
          <p:nvPr/>
        </p:nvSpPr>
        <p:spPr>
          <a:xfrm>
            <a:off x="0" y="-279"/>
            <a:ext cx="12191721" cy="939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C84B4-2B42-6F95-5C71-E8FDACA8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1206"/>
            <a:ext cx="10944225" cy="8778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933FB7-1074-F2CC-64DC-308A52B4201F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6B084-79D3-FCFF-FAC9-E31F397553EC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"/>
              </a:rPr>
              <a:t>Le dataset FER2013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FC5722-815C-A781-58DF-4CFC6401C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714500"/>
            <a:ext cx="457200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C466BE-26A9-7E41-63E1-C6F63EE03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75" y="1724025"/>
            <a:ext cx="457200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682B80-DDC1-8AC1-D183-038363F18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1714500"/>
            <a:ext cx="45720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ACFE7F-7797-E1C4-D52B-DCE661B7F092}"/>
              </a:ext>
            </a:extLst>
          </p:cNvPr>
          <p:cNvSpPr txBox="1"/>
          <p:nvPr/>
        </p:nvSpPr>
        <p:spPr>
          <a:xfrm>
            <a:off x="252869" y="1350723"/>
            <a:ext cx="752475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angry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1D138-7942-39E7-1E5F-A5C24473B1E7}"/>
              </a:ext>
            </a:extLst>
          </p:cNvPr>
          <p:cNvSpPr txBox="1"/>
          <p:nvPr/>
        </p:nvSpPr>
        <p:spPr>
          <a:xfrm>
            <a:off x="1129169" y="1350723"/>
            <a:ext cx="923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disgust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2EA981-B7F4-799C-49EE-42519C26F9F2}"/>
              </a:ext>
            </a:extLst>
          </p:cNvPr>
          <p:cNvSpPr txBox="1"/>
          <p:nvPr/>
        </p:nvSpPr>
        <p:spPr>
          <a:xfrm>
            <a:off x="2243594" y="1341198"/>
            <a:ext cx="609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fear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E145AF-2805-2D0B-5B53-AACA281C6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5" y="1714500"/>
            <a:ext cx="457200" cy="457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0B3666-725F-DCEA-5629-E5F6981D59A3}"/>
              </a:ext>
            </a:extLst>
          </p:cNvPr>
          <p:cNvSpPr txBox="1"/>
          <p:nvPr/>
        </p:nvSpPr>
        <p:spPr>
          <a:xfrm>
            <a:off x="3157994" y="1350723"/>
            <a:ext cx="8096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happy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D41D4F-DBE4-88B3-3BE8-AA4A46D922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4581525"/>
            <a:ext cx="457200" cy="457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ECC1B7-E880-5E18-A8F7-A7CAD457649C}"/>
              </a:ext>
            </a:extLst>
          </p:cNvPr>
          <p:cNvSpPr txBox="1"/>
          <p:nvPr/>
        </p:nvSpPr>
        <p:spPr>
          <a:xfrm>
            <a:off x="319544" y="4112973"/>
            <a:ext cx="923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neutral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90F52B-0C64-A67F-50F1-AF8B952714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9750" y="4581525"/>
            <a:ext cx="457200" cy="457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F73E838-E862-437F-1E0F-17D41D9FD4D3}"/>
              </a:ext>
            </a:extLst>
          </p:cNvPr>
          <p:cNvSpPr txBox="1"/>
          <p:nvPr/>
        </p:nvSpPr>
        <p:spPr>
          <a:xfrm>
            <a:off x="1738769" y="4112973"/>
            <a:ext cx="6000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sad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CE6944E-4CD9-12E0-39C8-920245033D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1325" y="4581525"/>
            <a:ext cx="457200" cy="457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076AEA8-256B-3614-B471-834C282891A3}"/>
              </a:ext>
            </a:extLst>
          </p:cNvPr>
          <p:cNvSpPr txBox="1"/>
          <p:nvPr/>
        </p:nvSpPr>
        <p:spPr>
          <a:xfrm>
            <a:off x="2700794" y="4112973"/>
            <a:ext cx="10191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surprise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FB2A41-59E6-4571-B2F0-BA41C72982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" y="2447925"/>
            <a:ext cx="457200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7B38D4D-F2FD-9F2B-8225-F70500EC6F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050" y="3200400"/>
            <a:ext cx="457200" cy="457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9363AD-978F-89A2-353B-B30CBCAB18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2075" y="2447925"/>
            <a:ext cx="457200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0A51B37-ABD3-38E3-EE83-B12E32D61F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2075" y="3200400"/>
            <a:ext cx="457200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9AD799C-DCDC-8010-5222-D54FC6B51E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24100" y="2447925"/>
            <a:ext cx="457200" cy="457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2E48483-D2A0-0A06-29CD-393683E4817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24100" y="3200400"/>
            <a:ext cx="457200" cy="457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0B7AB99-2029-3AEC-3B45-371C13D43F0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33750" y="2447925"/>
            <a:ext cx="457200" cy="457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DFA838-82DC-747F-9465-1E29811BC09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33750" y="3200400"/>
            <a:ext cx="457200" cy="457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3156839-3D75-B0D2-0C8B-600093767D6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2450" y="5267325"/>
            <a:ext cx="457200" cy="457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C501C51-7D9D-36BA-AEED-67854EC05CE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2450" y="5953125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D27DAAD-17DE-003F-136D-5C4F81CC389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09750" y="5267325"/>
            <a:ext cx="457200" cy="4572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B73ECE9-8799-498F-0DC4-0164A89FCAB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09750" y="5953125"/>
            <a:ext cx="457200" cy="4572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71FE394-CE7E-8A11-B083-3435BDE9BB9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81325" y="5267325"/>
            <a:ext cx="457200" cy="4572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0AD8C4D-2C18-7322-8053-72B8F100EDD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33700" y="5953125"/>
            <a:ext cx="457200" cy="457200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4696312-D8B0-ADB6-A431-1FBE38091CE2}"/>
              </a:ext>
            </a:extLst>
          </p:cNvPr>
          <p:cNvSpPr/>
          <p:nvPr/>
        </p:nvSpPr>
        <p:spPr>
          <a:xfrm>
            <a:off x="5076694" y="1731854"/>
            <a:ext cx="5981178" cy="10511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F2BADE-2F8E-D57D-A5A8-4D6CAB23CFEE}"/>
              </a:ext>
            </a:extLst>
          </p:cNvPr>
          <p:cNvSpPr txBox="1"/>
          <p:nvPr/>
        </p:nvSpPr>
        <p:spPr>
          <a:xfrm>
            <a:off x="5269185" y="1936870"/>
            <a:ext cx="53721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Dataset open-source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développé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en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2013 par Pierre-Luc Carrier et Aaron Courville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CF8A3E3-6F6F-12A4-E4EC-600DEAAF03B0}"/>
              </a:ext>
            </a:extLst>
          </p:cNvPr>
          <p:cNvSpPr/>
          <p:nvPr/>
        </p:nvSpPr>
        <p:spPr>
          <a:xfrm>
            <a:off x="5057644" y="2998678"/>
            <a:ext cx="5981178" cy="10511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AA7EE4-AE5A-11AA-3D8A-FA06280129B9}"/>
              </a:ext>
            </a:extLst>
          </p:cNvPr>
          <p:cNvSpPr txBox="1"/>
          <p:nvPr/>
        </p:nvSpPr>
        <p:spPr>
          <a:xfrm>
            <a:off x="5269673" y="3194658"/>
            <a:ext cx="53721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Images de 48x48 de visages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en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niveaux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de gris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réparties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en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7 classes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D33A549-7164-D1F1-CC83-318E3A2EF6F2}"/>
              </a:ext>
            </a:extLst>
          </p:cNvPr>
          <p:cNvSpPr/>
          <p:nvPr/>
        </p:nvSpPr>
        <p:spPr>
          <a:xfrm>
            <a:off x="5057644" y="4284553"/>
            <a:ext cx="5981178" cy="19655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489915-3EAD-D50D-78B2-2D0DA146C7AC}"/>
              </a:ext>
            </a:extLst>
          </p:cNvPr>
          <p:cNvSpPr txBox="1"/>
          <p:nvPr/>
        </p:nvSpPr>
        <p:spPr>
          <a:xfrm>
            <a:off x="5269673" y="4442433"/>
            <a:ext cx="53721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Choix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cohérent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avec le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sujet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du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projet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: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 - Images très petites :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entraînement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rapide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 - Dataset très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utilisé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: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possibilité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de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comparaison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   des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résultats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069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C2F5B6-10EA-283C-2E94-28F7C6884080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C2A4D-2296-12AD-D98E-F033FDBADC3B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"/>
              </a:rPr>
              <a:t>Données du dataset</a:t>
            </a:r>
            <a:endParaRPr lang="en-US" sz="280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92737-623D-F016-9F03-27A8C03E2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263" y="2878748"/>
            <a:ext cx="7991475" cy="3562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4DAF57-0CC4-8095-C608-E2A74E1FF0CE}"/>
              </a:ext>
            </a:extLst>
          </p:cNvPr>
          <p:cNvSpPr txBox="1"/>
          <p:nvPr/>
        </p:nvSpPr>
        <p:spPr>
          <a:xfrm>
            <a:off x="472493" y="1526563"/>
            <a:ext cx="93872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35 887 images au total : 28 709 images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d'entraînement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(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</a:rPr>
              <a:t>train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7178 de validation/test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4D2DD6-3D7B-ADD4-E9B2-AC196902EF8E}"/>
              </a:ext>
            </a:extLst>
          </p:cNvPr>
          <p:cNvSpPr txBox="1"/>
          <p:nvPr/>
        </p:nvSpPr>
        <p:spPr>
          <a:xfrm>
            <a:off x="472493" y="2024794"/>
            <a:ext cx="93872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Le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nombre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d'images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par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classe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n'est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pas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équilibré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, la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classe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joie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représente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25% du dataset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7854EAD-4465-9AF8-81BD-E099EB90B549}"/>
              </a:ext>
            </a:extLst>
          </p:cNvPr>
          <p:cNvSpPr/>
          <p:nvPr/>
        </p:nvSpPr>
        <p:spPr>
          <a:xfrm>
            <a:off x="12315694" y="1731854"/>
            <a:ext cx="5981178" cy="10511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1487A7-E65B-B57F-4A2A-CC3D8AF2D286}"/>
              </a:ext>
            </a:extLst>
          </p:cNvPr>
          <p:cNvSpPr txBox="1"/>
          <p:nvPr/>
        </p:nvSpPr>
        <p:spPr>
          <a:xfrm>
            <a:off x="12508185" y="1936870"/>
            <a:ext cx="53721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171717"/>
                </a:solidFill>
              </a:rPr>
              <a:t>Dataset open-source </a:t>
            </a:r>
            <a:r>
              <a:rPr lang="en-US" err="1">
                <a:solidFill>
                  <a:srgbClr val="171717"/>
                </a:solidFill>
              </a:rPr>
              <a:t>développé</a:t>
            </a:r>
            <a:r>
              <a:rPr lang="en-US">
                <a:solidFill>
                  <a:srgbClr val="171717"/>
                </a:solidFill>
              </a:rPr>
              <a:t> </a:t>
            </a:r>
            <a:r>
              <a:rPr lang="en-US" err="1">
                <a:solidFill>
                  <a:srgbClr val="171717"/>
                </a:solidFill>
              </a:rPr>
              <a:t>en</a:t>
            </a:r>
            <a:r>
              <a:rPr lang="en-US">
                <a:solidFill>
                  <a:srgbClr val="171717"/>
                </a:solidFill>
              </a:rPr>
              <a:t> 2013 par Pierre-Luc Carrier et Aaron Courville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EB53445-3280-1850-5777-37B962003017}"/>
              </a:ext>
            </a:extLst>
          </p:cNvPr>
          <p:cNvSpPr/>
          <p:nvPr/>
        </p:nvSpPr>
        <p:spPr>
          <a:xfrm>
            <a:off x="12296644" y="2998678"/>
            <a:ext cx="5981178" cy="10511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B562D5-C757-1A5A-C9DD-57924C59E2E4}"/>
              </a:ext>
            </a:extLst>
          </p:cNvPr>
          <p:cNvSpPr txBox="1"/>
          <p:nvPr/>
        </p:nvSpPr>
        <p:spPr>
          <a:xfrm>
            <a:off x="12508673" y="3194658"/>
            <a:ext cx="53721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171717"/>
                </a:solidFill>
              </a:rPr>
              <a:t>Images de 48x48 de visages </a:t>
            </a:r>
            <a:r>
              <a:rPr lang="en-US" err="1">
                <a:solidFill>
                  <a:srgbClr val="171717"/>
                </a:solidFill>
              </a:rPr>
              <a:t>en</a:t>
            </a:r>
            <a:r>
              <a:rPr lang="en-US">
                <a:solidFill>
                  <a:srgbClr val="171717"/>
                </a:solidFill>
              </a:rPr>
              <a:t> </a:t>
            </a:r>
            <a:r>
              <a:rPr lang="en-US" err="1">
                <a:solidFill>
                  <a:srgbClr val="171717"/>
                </a:solidFill>
              </a:rPr>
              <a:t>niveaux</a:t>
            </a:r>
            <a:r>
              <a:rPr lang="en-US">
                <a:solidFill>
                  <a:srgbClr val="171717"/>
                </a:solidFill>
              </a:rPr>
              <a:t> de gris </a:t>
            </a:r>
            <a:r>
              <a:rPr lang="en-US" err="1">
                <a:solidFill>
                  <a:srgbClr val="171717"/>
                </a:solidFill>
              </a:rPr>
              <a:t>réparties</a:t>
            </a:r>
            <a:r>
              <a:rPr lang="en-US">
                <a:solidFill>
                  <a:srgbClr val="171717"/>
                </a:solidFill>
              </a:rPr>
              <a:t> </a:t>
            </a:r>
            <a:r>
              <a:rPr lang="en-US" err="1">
                <a:solidFill>
                  <a:srgbClr val="171717"/>
                </a:solidFill>
              </a:rPr>
              <a:t>en</a:t>
            </a:r>
            <a:r>
              <a:rPr lang="en-US">
                <a:solidFill>
                  <a:srgbClr val="171717"/>
                </a:solidFill>
              </a:rPr>
              <a:t> 7 classes</a:t>
            </a:r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6A3A851-7D79-C232-66AC-8715D05D3A04}"/>
              </a:ext>
            </a:extLst>
          </p:cNvPr>
          <p:cNvSpPr/>
          <p:nvPr/>
        </p:nvSpPr>
        <p:spPr>
          <a:xfrm>
            <a:off x="12296644" y="4284553"/>
            <a:ext cx="5981178" cy="19655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62BEAB-A656-47C8-290B-1E12416E02DD}"/>
              </a:ext>
            </a:extLst>
          </p:cNvPr>
          <p:cNvSpPr txBox="1"/>
          <p:nvPr/>
        </p:nvSpPr>
        <p:spPr>
          <a:xfrm>
            <a:off x="12508673" y="4442433"/>
            <a:ext cx="53721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171717"/>
                </a:solidFill>
              </a:rPr>
              <a:t>Choix </a:t>
            </a:r>
            <a:r>
              <a:rPr lang="en-US" err="1">
                <a:solidFill>
                  <a:srgbClr val="171717"/>
                </a:solidFill>
              </a:rPr>
              <a:t>cohérent</a:t>
            </a:r>
            <a:r>
              <a:rPr lang="en-US">
                <a:solidFill>
                  <a:srgbClr val="171717"/>
                </a:solidFill>
              </a:rPr>
              <a:t> avec le </a:t>
            </a:r>
            <a:r>
              <a:rPr lang="en-US" err="1">
                <a:solidFill>
                  <a:srgbClr val="171717"/>
                </a:solidFill>
              </a:rPr>
              <a:t>sujet</a:t>
            </a:r>
            <a:r>
              <a:rPr lang="en-US">
                <a:solidFill>
                  <a:srgbClr val="171717"/>
                </a:solidFill>
              </a:rPr>
              <a:t> du </a:t>
            </a:r>
            <a:r>
              <a:rPr lang="en-US" err="1">
                <a:solidFill>
                  <a:srgbClr val="171717"/>
                </a:solidFill>
              </a:rPr>
              <a:t>projet</a:t>
            </a:r>
            <a:r>
              <a:rPr lang="en-US">
                <a:solidFill>
                  <a:srgbClr val="171717"/>
                </a:solidFill>
              </a:rPr>
              <a:t> :</a:t>
            </a:r>
          </a:p>
          <a:p>
            <a:r>
              <a:rPr lang="en-US">
                <a:solidFill>
                  <a:srgbClr val="171717"/>
                </a:solidFill>
              </a:rPr>
              <a:t> - Images très petites : </a:t>
            </a:r>
            <a:r>
              <a:rPr lang="en-US" err="1">
                <a:solidFill>
                  <a:srgbClr val="171717"/>
                </a:solidFill>
              </a:rPr>
              <a:t>entraînement</a:t>
            </a:r>
            <a:r>
              <a:rPr lang="en-US">
                <a:solidFill>
                  <a:srgbClr val="171717"/>
                </a:solidFill>
              </a:rPr>
              <a:t> </a:t>
            </a:r>
            <a:r>
              <a:rPr lang="en-US" err="1">
                <a:solidFill>
                  <a:srgbClr val="171717"/>
                </a:solidFill>
              </a:rPr>
              <a:t>rapide</a:t>
            </a:r>
            <a:endParaRPr lang="en-US">
              <a:solidFill>
                <a:srgbClr val="171717"/>
              </a:solidFill>
            </a:endParaRPr>
          </a:p>
          <a:p>
            <a:r>
              <a:rPr lang="en-US">
                <a:solidFill>
                  <a:srgbClr val="171717"/>
                </a:solidFill>
              </a:rPr>
              <a:t> - Dataset très </a:t>
            </a:r>
            <a:r>
              <a:rPr lang="en-US" err="1">
                <a:solidFill>
                  <a:srgbClr val="171717"/>
                </a:solidFill>
              </a:rPr>
              <a:t>utilisé</a:t>
            </a:r>
            <a:r>
              <a:rPr lang="en-US">
                <a:solidFill>
                  <a:srgbClr val="171717"/>
                </a:solidFill>
              </a:rPr>
              <a:t> : </a:t>
            </a:r>
            <a:r>
              <a:rPr lang="en-US" err="1">
                <a:solidFill>
                  <a:srgbClr val="171717"/>
                </a:solidFill>
              </a:rPr>
              <a:t>possibilité</a:t>
            </a:r>
            <a:r>
              <a:rPr lang="en-US">
                <a:solidFill>
                  <a:srgbClr val="171717"/>
                </a:solidFill>
              </a:rPr>
              <a:t> de </a:t>
            </a:r>
            <a:r>
              <a:rPr lang="en-US" err="1">
                <a:solidFill>
                  <a:srgbClr val="171717"/>
                </a:solidFill>
              </a:rPr>
              <a:t>comparaison</a:t>
            </a:r>
            <a:r>
              <a:rPr lang="en-US">
                <a:solidFill>
                  <a:srgbClr val="171717"/>
                </a:solidFill>
              </a:rPr>
              <a:t>    des </a:t>
            </a:r>
            <a:r>
              <a:rPr lang="en-US" err="1">
                <a:solidFill>
                  <a:srgbClr val="171717"/>
                </a:solidFill>
              </a:rPr>
              <a:t>résultats</a:t>
            </a:r>
          </a:p>
          <a:p>
            <a:endParaRPr lang="en-US">
              <a:solidFill>
                <a:srgbClr val="171717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F96E9A3-E15A-C7B4-8941-555A4D8F0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95565" y="1714500"/>
            <a:ext cx="457200" cy="4572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7F03F6E-D8EF-A908-9369-3174C6728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33540" y="1724025"/>
            <a:ext cx="457200" cy="4572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9329AA8-6179-1067-6740-E8A43DCC1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71515" y="1714500"/>
            <a:ext cx="457200" cy="4572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1406331A-D3EF-2F0D-D79D-A7FEACCAE638}"/>
              </a:ext>
            </a:extLst>
          </p:cNvPr>
          <p:cNvSpPr txBox="1"/>
          <p:nvPr/>
        </p:nvSpPr>
        <p:spPr>
          <a:xfrm>
            <a:off x="-3742746" y="1350723"/>
            <a:ext cx="752475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angry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558CD5-A91C-E9DE-7804-366F6D1CAC8E}"/>
              </a:ext>
            </a:extLst>
          </p:cNvPr>
          <p:cNvSpPr txBox="1"/>
          <p:nvPr/>
        </p:nvSpPr>
        <p:spPr>
          <a:xfrm>
            <a:off x="-2866446" y="1350723"/>
            <a:ext cx="923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disgust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4655B4-C3ED-B090-D85C-4BBBD5D93659}"/>
              </a:ext>
            </a:extLst>
          </p:cNvPr>
          <p:cNvSpPr txBox="1"/>
          <p:nvPr/>
        </p:nvSpPr>
        <p:spPr>
          <a:xfrm>
            <a:off x="-1752021" y="1341198"/>
            <a:ext cx="609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fear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F432230-9998-8E7E-A8C1-E57146DCD5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09490" y="1714500"/>
            <a:ext cx="457200" cy="4572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EEA6254-E3E3-1478-3C52-7AF2B1610C76}"/>
              </a:ext>
            </a:extLst>
          </p:cNvPr>
          <p:cNvSpPr txBox="1"/>
          <p:nvPr/>
        </p:nvSpPr>
        <p:spPr>
          <a:xfrm>
            <a:off x="-837621" y="1350723"/>
            <a:ext cx="8096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happy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4414DD4-CC48-4ED9-6344-A8BDB15B56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443165" y="4581525"/>
            <a:ext cx="457200" cy="4572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76B4034-D50A-EEC1-2A5B-D1C9368AFBE2}"/>
              </a:ext>
            </a:extLst>
          </p:cNvPr>
          <p:cNvSpPr txBox="1"/>
          <p:nvPr/>
        </p:nvSpPr>
        <p:spPr>
          <a:xfrm>
            <a:off x="-3676071" y="4112973"/>
            <a:ext cx="923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neutral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260E43E5-BE1E-14CF-80D9-DCD901D19C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185865" y="4581525"/>
            <a:ext cx="457200" cy="4572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49FFC0B-C501-4BB5-5404-7445C6A4D173}"/>
              </a:ext>
            </a:extLst>
          </p:cNvPr>
          <p:cNvSpPr txBox="1"/>
          <p:nvPr/>
        </p:nvSpPr>
        <p:spPr>
          <a:xfrm>
            <a:off x="-2256846" y="4112973"/>
            <a:ext cx="6000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sad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F3D71C0-F721-CA11-E8CD-4F7A9E3240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014290" y="4581525"/>
            <a:ext cx="457200" cy="4572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B858003-0C4E-3301-8781-92808D721008}"/>
              </a:ext>
            </a:extLst>
          </p:cNvPr>
          <p:cNvSpPr txBox="1"/>
          <p:nvPr/>
        </p:nvSpPr>
        <p:spPr>
          <a:xfrm>
            <a:off x="-1294821" y="4112973"/>
            <a:ext cx="10191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surprise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CFE5D02F-D665-DD7B-BE4D-B9044D0706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595565" y="2447925"/>
            <a:ext cx="457200" cy="4572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F290B20-274D-A2ED-956C-1C8BFDA832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3595565" y="3200400"/>
            <a:ext cx="457200" cy="4572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C49126F-666B-E14C-2BC3-2E88891DD7D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633540" y="2447925"/>
            <a:ext cx="457200" cy="4572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B48CA8AB-2689-3100-228A-CB2C3D1CDB7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633540" y="3200400"/>
            <a:ext cx="457200" cy="4572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D6F3BCE-128E-167F-062B-42E83D29C0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671515" y="2447925"/>
            <a:ext cx="457200" cy="4572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E87841CA-B240-4FFD-6421-1AA147FEABD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1671515" y="3200400"/>
            <a:ext cx="457200" cy="4572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8BEAC720-1B79-60AE-5D49-025390B8DF9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661865" y="2447925"/>
            <a:ext cx="457200" cy="4572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2E21AA7-E8F7-F04C-04D3-17D8011FABA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661865" y="3200400"/>
            <a:ext cx="457200" cy="4572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2FF50F52-6E70-D6EF-361F-B5EC7A3372D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443165" y="5267325"/>
            <a:ext cx="457200" cy="4572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31B1508A-65C8-542B-5683-93F78B2B384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3443165" y="5953125"/>
            <a:ext cx="457200" cy="4572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B3BE8B92-A837-4D6D-67B7-8AEDABB87E8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185865" y="5267325"/>
            <a:ext cx="457200" cy="45720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ED6F0664-6ABA-2460-9E68-845C17E1F43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185865" y="5953125"/>
            <a:ext cx="457200" cy="45720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17D0FA7C-3529-A6A6-B89C-385CB5F76EB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1014290" y="5267325"/>
            <a:ext cx="457200" cy="4572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7C1E32CF-A0DE-B7E4-407D-3972EF2D3BF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-1061915" y="595312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32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109D65-473B-35F6-2EFF-5C082CC48381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8F7CF-A094-C912-5129-118499045CCF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bg1"/>
                </a:solidFill>
                <a:latin typeface="Franklin Gothic"/>
              </a:rPr>
              <a:t>Découpage</a:t>
            </a:r>
            <a:r>
              <a:rPr lang="en-US" sz="2800">
                <a:solidFill>
                  <a:schemeClr val="bg1"/>
                </a:solidFill>
                <a:latin typeface="Franklin Gothic"/>
              </a:rPr>
              <a:t> du dataset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8AB18A-EEB1-449C-801C-63216E74E257}"/>
              </a:ext>
            </a:extLst>
          </p:cNvPr>
          <p:cNvSpPr/>
          <p:nvPr/>
        </p:nvSpPr>
        <p:spPr>
          <a:xfrm>
            <a:off x="1466272" y="2132948"/>
            <a:ext cx="498231" cy="4982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C9B8B3-F119-5922-9BF3-ABA51DFBCEA2}"/>
              </a:ext>
            </a:extLst>
          </p:cNvPr>
          <p:cNvSpPr/>
          <p:nvPr/>
        </p:nvSpPr>
        <p:spPr>
          <a:xfrm>
            <a:off x="1466272" y="3959794"/>
            <a:ext cx="498231" cy="4982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8FCF4D-0C54-407E-1AEE-0F4E80346D16}"/>
              </a:ext>
            </a:extLst>
          </p:cNvPr>
          <p:cNvSpPr txBox="1"/>
          <p:nvPr/>
        </p:nvSpPr>
        <p:spPr>
          <a:xfrm>
            <a:off x="2134638" y="1888837"/>
            <a:ext cx="5372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Encodage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one-hot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362DE-0369-7E7F-1CC0-75485467292C}"/>
              </a:ext>
            </a:extLst>
          </p:cNvPr>
          <p:cNvSpPr txBox="1"/>
          <p:nvPr/>
        </p:nvSpPr>
        <p:spPr>
          <a:xfrm>
            <a:off x="2103851" y="2255329"/>
            <a:ext cx="72424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Le label 3 (joie)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devient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[0, 0, 0, 1, 0, 0, 0],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cela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permet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d'avoir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une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sortie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softmax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à 7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neurones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890B76-44A3-6A2D-B336-0BD43571171B}"/>
              </a:ext>
            </a:extLst>
          </p:cNvPr>
          <p:cNvSpPr txBox="1"/>
          <p:nvPr/>
        </p:nvSpPr>
        <p:spPr>
          <a:xfrm>
            <a:off x="2134638" y="3696144"/>
            <a:ext cx="5372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Découpage</a:t>
            </a:r>
            <a:endParaRPr lang="en-US" err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945CCA-4B9D-2636-B47F-B01EA7C6AEF7}"/>
              </a:ext>
            </a:extLst>
          </p:cNvPr>
          <p:cNvSpPr txBox="1"/>
          <p:nvPr/>
        </p:nvSpPr>
        <p:spPr>
          <a:xfrm>
            <a:off x="2103852" y="4067374"/>
            <a:ext cx="73656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On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divise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le dossier train : 85% des images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serviront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à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l'entraînement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 et 15% à la validation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27F284-9F1C-D448-DF91-CE0FF54B3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263" y="6991460"/>
            <a:ext cx="7991475" cy="356235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4A77D3A-9EE2-1304-44C8-F1EFE37F5CB3}"/>
              </a:ext>
            </a:extLst>
          </p:cNvPr>
          <p:cNvSpPr/>
          <p:nvPr/>
        </p:nvSpPr>
        <p:spPr>
          <a:xfrm>
            <a:off x="746071" y="5073423"/>
            <a:ext cx="4875363" cy="1548770"/>
          </a:xfrm>
          <a:prstGeom prst="round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4B53AAE-5ED9-1AC4-7E0F-206633F18B43}"/>
              </a:ext>
            </a:extLst>
          </p:cNvPr>
          <p:cNvSpPr txBox="1"/>
          <p:nvPr/>
        </p:nvSpPr>
        <p:spPr>
          <a:xfrm>
            <a:off x="2572450" y="5329309"/>
            <a:ext cx="1473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</a:rPr>
              <a:t>Dossier train</a:t>
            </a:r>
            <a:endParaRPr lang="zh-CN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3AE4A1-E501-4228-C41F-6934CCAF6C12}"/>
              </a:ext>
            </a:extLst>
          </p:cNvPr>
          <p:cNvSpPr txBox="1"/>
          <p:nvPr/>
        </p:nvSpPr>
        <p:spPr>
          <a:xfrm>
            <a:off x="902262" y="5971936"/>
            <a:ext cx="21471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Entraînement:85%</a:t>
            </a:r>
            <a:endParaRPr lang="zh-C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9BBF26-1CDE-3CA9-F4EC-0327205CD6A5}"/>
              </a:ext>
            </a:extLst>
          </p:cNvPr>
          <p:cNvSpPr txBox="1"/>
          <p:nvPr/>
        </p:nvSpPr>
        <p:spPr>
          <a:xfrm>
            <a:off x="3857563" y="5973828"/>
            <a:ext cx="16660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>
                <a:ea typeface="等线"/>
              </a:rPr>
              <a:t>Valitation:15%</a:t>
            </a:r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76957ED-2AE4-209F-74D1-E30A9DE0DBD0}"/>
              </a:ext>
            </a:extLst>
          </p:cNvPr>
          <p:cNvSpPr/>
          <p:nvPr/>
        </p:nvSpPr>
        <p:spPr>
          <a:xfrm>
            <a:off x="7303293" y="5071489"/>
            <a:ext cx="4309622" cy="1546854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E26CA5C-C3B1-FA78-32A1-1153F1E50D41}"/>
              </a:ext>
            </a:extLst>
          </p:cNvPr>
          <p:cNvSpPr txBox="1"/>
          <p:nvPr/>
        </p:nvSpPr>
        <p:spPr>
          <a:xfrm>
            <a:off x="7820810" y="5444746"/>
            <a:ext cx="3068682" cy="9427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>
                <a:ea typeface="等线"/>
              </a:rPr>
              <a:t>Dossier test : </a:t>
            </a:r>
            <a:r>
              <a:rPr lang="en-US" altLang="zh-CN" err="1">
                <a:ea typeface="等线"/>
              </a:rPr>
              <a:t>utilisé</a:t>
            </a:r>
            <a:r>
              <a:rPr lang="en-US" altLang="zh-CN">
                <a:ea typeface="等线"/>
              </a:rPr>
              <a:t> </a:t>
            </a:r>
            <a:r>
              <a:rPr lang="en-US" altLang="zh-CN" err="1">
                <a:ea typeface="等线"/>
              </a:rPr>
              <a:t>une</a:t>
            </a:r>
            <a:r>
              <a:rPr lang="en-US" altLang="zh-CN">
                <a:ea typeface="等线"/>
              </a:rPr>
              <a:t> </a:t>
            </a:r>
            <a:r>
              <a:rPr lang="en-US" altLang="zh-CN" err="1">
                <a:ea typeface="等线"/>
              </a:rPr>
              <a:t>fois</a:t>
            </a:r>
            <a:r>
              <a:rPr lang="en-US" altLang="zh-CN">
                <a:ea typeface="等线"/>
              </a:rPr>
              <a:t> à la fin</a:t>
            </a:r>
            <a:endParaRPr lang="zh-CN">
              <a:ea typeface="等线"/>
            </a:endParaRPr>
          </a:p>
          <a:p>
            <a:pPr algn="l"/>
            <a:endParaRPr lang="zh-CN" altLang="en-US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5026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A6D-43CF-9C25-C0A0-10AEB82533B0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29DFA-2007-291F-12D0-A0FD8F2811FF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bg1"/>
                </a:solidFill>
                <a:latin typeface="Franklin Gothic"/>
              </a:rPr>
              <a:t>Modèle</a:t>
            </a:r>
            <a:r>
              <a:rPr lang="en-US" sz="2800">
                <a:solidFill>
                  <a:schemeClr val="bg1"/>
                </a:solidFill>
                <a:latin typeface="Franklin Gothic"/>
              </a:rPr>
              <a:t> de </a:t>
            </a:r>
            <a:r>
              <a:rPr lang="en-US" sz="2800" err="1">
                <a:solidFill>
                  <a:schemeClr val="bg1"/>
                </a:solidFill>
                <a:latin typeface="Franklin Gothic"/>
              </a:rPr>
              <a:t>référence</a:t>
            </a:r>
            <a:r>
              <a:rPr lang="en-US" sz="2800">
                <a:solidFill>
                  <a:schemeClr val="bg1"/>
                </a:solidFill>
                <a:latin typeface="Franklin Gothic"/>
              </a:rPr>
              <a:t> : un MLP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859339-834A-3AC3-FC21-7F9E4941081C}"/>
              </a:ext>
            </a:extLst>
          </p:cNvPr>
          <p:cNvSpPr/>
          <p:nvPr/>
        </p:nvSpPr>
        <p:spPr>
          <a:xfrm>
            <a:off x="811963" y="1893144"/>
            <a:ext cx="1914003" cy="10511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9C3FE-E2E1-E456-C4B0-ACB411411730}"/>
              </a:ext>
            </a:extLst>
          </p:cNvPr>
          <p:cNvSpPr txBox="1"/>
          <p:nvPr/>
        </p:nvSpPr>
        <p:spPr>
          <a:xfrm>
            <a:off x="1334409" y="2001444"/>
            <a:ext cx="8667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Entrée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ACEAB-31F9-9C9C-E720-E21C3DACC83D}"/>
              </a:ext>
            </a:extLst>
          </p:cNvPr>
          <p:cNvSpPr txBox="1"/>
          <p:nvPr/>
        </p:nvSpPr>
        <p:spPr>
          <a:xfrm>
            <a:off x="1020084" y="2380734"/>
            <a:ext cx="14954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Image 48*48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539857-ACDD-D7F7-73AA-605EDEF4E34D}"/>
              </a:ext>
            </a:extLst>
          </p:cNvPr>
          <p:cNvSpPr/>
          <p:nvPr/>
        </p:nvSpPr>
        <p:spPr>
          <a:xfrm>
            <a:off x="2983663" y="1893143"/>
            <a:ext cx="1914003" cy="10511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50B2D1-A676-BD3C-A4FE-B26AA9E8C50E}"/>
              </a:ext>
            </a:extLst>
          </p:cNvPr>
          <p:cNvSpPr txBox="1"/>
          <p:nvPr/>
        </p:nvSpPr>
        <p:spPr>
          <a:xfrm>
            <a:off x="3391808" y="2001443"/>
            <a:ext cx="11049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Flatten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E9A8CA-7AB9-73D1-EB5C-CF217B9A2C31}"/>
              </a:ext>
            </a:extLst>
          </p:cNvPr>
          <p:cNvSpPr/>
          <p:nvPr/>
        </p:nvSpPr>
        <p:spPr>
          <a:xfrm>
            <a:off x="5155363" y="1893143"/>
            <a:ext cx="1914003" cy="10511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3F2C4B-D913-FAE3-131B-FAD5FE25535E}"/>
              </a:ext>
            </a:extLst>
          </p:cNvPr>
          <p:cNvSpPr txBox="1"/>
          <p:nvPr/>
        </p:nvSpPr>
        <p:spPr>
          <a:xfrm>
            <a:off x="5449208" y="2001443"/>
            <a:ext cx="13335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Dense 256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16BF27-27D9-3D34-1B52-77433847F5B6}"/>
              </a:ext>
            </a:extLst>
          </p:cNvPr>
          <p:cNvSpPr/>
          <p:nvPr/>
        </p:nvSpPr>
        <p:spPr>
          <a:xfrm>
            <a:off x="7327063" y="1893143"/>
            <a:ext cx="1914003" cy="10511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347486-2C20-05B9-FE38-9B24565080CD}"/>
              </a:ext>
            </a:extLst>
          </p:cNvPr>
          <p:cNvSpPr txBox="1"/>
          <p:nvPr/>
        </p:nvSpPr>
        <p:spPr>
          <a:xfrm>
            <a:off x="7573283" y="2010968"/>
            <a:ext cx="14287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Dense 128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B627AB-9A6B-02B7-9A55-A251EF368324}"/>
              </a:ext>
            </a:extLst>
          </p:cNvPr>
          <p:cNvSpPr/>
          <p:nvPr/>
        </p:nvSpPr>
        <p:spPr>
          <a:xfrm>
            <a:off x="9479713" y="1893143"/>
            <a:ext cx="1914003" cy="10511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CE4910-CB97-FC36-1BC6-0355486B9DD4}"/>
              </a:ext>
            </a:extLst>
          </p:cNvPr>
          <p:cNvSpPr txBox="1"/>
          <p:nvPr/>
        </p:nvSpPr>
        <p:spPr>
          <a:xfrm>
            <a:off x="9725933" y="2010968"/>
            <a:ext cx="14287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Dense 7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F46D02-C347-4EB1-1312-3B15E4FD311C}"/>
              </a:ext>
            </a:extLst>
          </p:cNvPr>
          <p:cNvSpPr txBox="1"/>
          <p:nvPr/>
        </p:nvSpPr>
        <p:spPr>
          <a:xfrm>
            <a:off x="3144158" y="2418833"/>
            <a:ext cx="160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48*48 -&gt; 2304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52939F-B499-277E-BD08-E71C20043990}"/>
              </a:ext>
            </a:extLst>
          </p:cNvPr>
          <p:cNvSpPr txBox="1"/>
          <p:nvPr/>
        </p:nvSpPr>
        <p:spPr>
          <a:xfrm>
            <a:off x="5287283" y="2418833"/>
            <a:ext cx="16573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Fonction ReLU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7DBA8B-5ED1-1C96-405E-D29F8FF4C57E}"/>
              </a:ext>
            </a:extLst>
          </p:cNvPr>
          <p:cNvSpPr txBox="1"/>
          <p:nvPr/>
        </p:nvSpPr>
        <p:spPr>
          <a:xfrm>
            <a:off x="7458983" y="2418833"/>
            <a:ext cx="16573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Fonction ReLU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B30BC2-DE90-9054-580E-ED9B4038650E}"/>
              </a:ext>
            </a:extLst>
          </p:cNvPr>
          <p:cNvSpPr txBox="1"/>
          <p:nvPr/>
        </p:nvSpPr>
        <p:spPr>
          <a:xfrm>
            <a:off x="9611633" y="2418833"/>
            <a:ext cx="16573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Softmax</a:t>
            </a:r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2C4D57-395E-24E5-B589-1F340619EE85}"/>
              </a:ext>
            </a:extLst>
          </p:cNvPr>
          <p:cNvSpPr txBox="1"/>
          <p:nvPr/>
        </p:nvSpPr>
        <p:spPr>
          <a:xfrm>
            <a:off x="2991758" y="3190358"/>
            <a:ext cx="191452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La couche Flatten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transforme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l'image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48*48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d'entrée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en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un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vecteur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de 2304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valeurs</a:t>
            </a:r>
            <a:endParaRPr lang="en-US" err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CD0FB8-F6C3-DC3A-0F72-786656375D8D}"/>
              </a:ext>
            </a:extLst>
          </p:cNvPr>
          <p:cNvSpPr txBox="1"/>
          <p:nvPr/>
        </p:nvSpPr>
        <p:spPr>
          <a:xfrm>
            <a:off x="5163458" y="3190358"/>
            <a:ext cx="191452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La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fonction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d'activation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ReLU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garde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uniquement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les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valeurs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positives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afin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de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créer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de la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complexité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dans le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modèle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983008-089E-61FF-576E-15E67E6999AD}"/>
              </a:ext>
            </a:extLst>
          </p:cNvPr>
          <p:cNvSpPr txBox="1"/>
          <p:nvPr/>
        </p:nvSpPr>
        <p:spPr>
          <a:xfrm>
            <a:off x="7458983" y="3190358"/>
            <a:ext cx="191452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Avoir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des couches de plus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en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plus petites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permet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de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cibler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différents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détails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de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l'image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ABE534-8940-FCA0-7AED-80CA3826ABD5}"/>
              </a:ext>
            </a:extLst>
          </p:cNvPr>
          <p:cNvSpPr txBox="1"/>
          <p:nvPr/>
        </p:nvSpPr>
        <p:spPr>
          <a:xfrm>
            <a:off x="9478283" y="3333233"/>
            <a:ext cx="191452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La fonction softmax donne une sortie à 7 probabilités pour les 7 classes du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CD48B-FAAF-732A-BD35-FB8224AD0F1D}"/>
              </a:ext>
            </a:extLst>
          </p:cNvPr>
          <p:cNvSpPr txBox="1"/>
          <p:nvPr/>
        </p:nvSpPr>
        <p:spPr>
          <a:xfrm>
            <a:off x="3528300" y="6448412"/>
            <a:ext cx="54844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solidFill>
                  <a:srgbClr val="AEAEAE"/>
                </a:solidFill>
              </a:rPr>
              <a:t>623 879 </a:t>
            </a:r>
            <a:r>
              <a:rPr lang="en-US" sz="1200" err="1">
                <a:solidFill>
                  <a:srgbClr val="AEAEAE"/>
                </a:solidFill>
              </a:rPr>
              <a:t>paramètres</a:t>
            </a:r>
            <a:endParaRPr lang="en-US" sz="1200">
              <a:solidFill>
                <a:srgbClr val="AEAE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49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BC5D-ECAB-F42F-AFF4-18549622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0FDC111-A1D9-4BA2-32ED-04A3F592676E}"/>
              </a:ext>
            </a:extLst>
          </p:cNvPr>
          <p:cNvSpPr/>
          <p:nvPr/>
        </p:nvSpPr>
        <p:spPr>
          <a:xfrm>
            <a:off x="5187732" y="149268"/>
            <a:ext cx="1914003" cy="10511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D10850-CEF5-A616-0B59-12E9330F733F}"/>
              </a:ext>
            </a:extLst>
          </p:cNvPr>
          <p:cNvSpPr txBox="1"/>
          <p:nvPr/>
        </p:nvSpPr>
        <p:spPr>
          <a:xfrm>
            <a:off x="5481577" y="257568"/>
            <a:ext cx="13335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Dense 256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CF53A0-6FCC-E5D9-0C33-F1121B49448F}"/>
              </a:ext>
            </a:extLst>
          </p:cNvPr>
          <p:cNvSpPr txBox="1"/>
          <p:nvPr/>
        </p:nvSpPr>
        <p:spPr>
          <a:xfrm>
            <a:off x="5319652" y="674958"/>
            <a:ext cx="16573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Fonction ReLU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5C4497-E799-C730-5C54-33584A28E032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F3527-06B7-0D0E-2842-5905F7006365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bg1"/>
                </a:solidFill>
                <a:latin typeface="Franklin Gothic"/>
              </a:rPr>
              <a:t>Modèle</a:t>
            </a:r>
            <a:r>
              <a:rPr lang="en-US" sz="2800">
                <a:solidFill>
                  <a:schemeClr val="bg1"/>
                </a:solidFill>
                <a:latin typeface="Franklin Gothic"/>
              </a:rPr>
              <a:t> de </a:t>
            </a:r>
            <a:r>
              <a:rPr lang="en-US" sz="2800" err="1">
                <a:solidFill>
                  <a:schemeClr val="bg1"/>
                </a:solidFill>
                <a:latin typeface="Franklin Gothic"/>
              </a:rPr>
              <a:t>référence</a:t>
            </a:r>
            <a:r>
              <a:rPr lang="en-US" sz="2800">
                <a:solidFill>
                  <a:schemeClr val="bg1"/>
                </a:solidFill>
                <a:latin typeface="Franklin Gothic"/>
              </a:rPr>
              <a:t> : un MLP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AE2A49-ED96-7D2C-5824-F9B72637F5B2}"/>
              </a:ext>
            </a:extLst>
          </p:cNvPr>
          <p:cNvSpPr/>
          <p:nvPr/>
        </p:nvSpPr>
        <p:spPr>
          <a:xfrm>
            <a:off x="-4267331" y="2322404"/>
            <a:ext cx="1914003" cy="10511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97440-391C-0D33-1533-592D1D00FD52}"/>
              </a:ext>
            </a:extLst>
          </p:cNvPr>
          <p:cNvSpPr txBox="1"/>
          <p:nvPr/>
        </p:nvSpPr>
        <p:spPr>
          <a:xfrm>
            <a:off x="-3744885" y="2430704"/>
            <a:ext cx="8667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Entrée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F33881-D72F-B7E2-ECFB-2F4D42559250}"/>
              </a:ext>
            </a:extLst>
          </p:cNvPr>
          <p:cNvSpPr txBox="1"/>
          <p:nvPr/>
        </p:nvSpPr>
        <p:spPr>
          <a:xfrm>
            <a:off x="-4059210" y="2809994"/>
            <a:ext cx="14954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Image 48*48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5AFC4A-1C0B-09F6-62A9-56549CF5C588}"/>
              </a:ext>
            </a:extLst>
          </p:cNvPr>
          <p:cNvSpPr/>
          <p:nvPr/>
        </p:nvSpPr>
        <p:spPr>
          <a:xfrm>
            <a:off x="-2095631" y="2322403"/>
            <a:ext cx="1914003" cy="10511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3E2C2D-F884-D90D-380A-C30169219186}"/>
              </a:ext>
            </a:extLst>
          </p:cNvPr>
          <p:cNvSpPr txBox="1"/>
          <p:nvPr/>
        </p:nvSpPr>
        <p:spPr>
          <a:xfrm>
            <a:off x="-1687486" y="2430703"/>
            <a:ext cx="11049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Flatten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15F562-7E71-54AA-B247-859E73AD74F5}"/>
              </a:ext>
            </a:extLst>
          </p:cNvPr>
          <p:cNvSpPr/>
          <p:nvPr/>
        </p:nvSpPr>
        <p:spPr>
          <a:xfrm>
            <a:off x="12325219" y="2322403"/>
            <a:ext cx="1914003" cy="10511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2BCBE-7700-B8AD-3D36-E4E7D6766149}"/>
              </a:ext>
            </a:extLst>
          </p:cNvPr>
          <p:cNvSpPr txBox="1"/>
          <p:nvPr/>
        </p:nvSpPr>
        <p:spPr>
          <a:xfrm>
            <a:off x="12571439" y="2440228"/>
            <a:ext cx="14287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Dense 128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6FAC077-3E0B-FC28-7231-8E8FC165DC25}"/>
              </a:ext>
            </a:extLst>
          </p:cNvPr>
          <p:cNvSpPr/>
          <p:nvPr/>
        </p:nvSpPr>
        <p:spPr>
          <a:xfrm>
            <a:off x="14477869" y="2322403"/>
            <a:ext cx="1914003" cy="10511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9EAAF-082D-7002-D913-26FDB8665494}"/>
              </a:ext>
            </a:extLst>
          </p:cNvPr>
          <p:cNvSpPr txBox="1"/>
          <p:nvPr/>
        </p:nvSpPr>
        <p:spPr>
          <a:xfrm>
            <a:off x="14724089" y="2440228"/>
            <a:ext cx="14287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Dense 7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26D3C4-8A53-ED61-6AD0-7A55873E10BE}"/>
              </a:ext>
            </a:extLst>
          </p:cNvPr>
          <p:cNvSpPr txBox="1"/>
          <p:nvPr/>
        </p:nvSpPr>
        <p:spPr>
          <a:xfrm>
            <a:off x="-1935136" y="2848093"/>
            <a:ext cx="160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48*48 -&gt; 2304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B76B97-D4D6-67B0-0EFE-9FF3392ECE53}"/>
              </a:ext>
            </a:extLst>
          </p:cNvPr>
          <p:cNvSpPr txBox="1"/>
          <p:nvPr/>
        </p:nvSpPr>
        <p:spPr>
          <a:xfrm>
            <a:off x="12457139" y="2848093"/>
            <a:ext cx="16573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Fonction ReLU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A94F02-2270-3070-8DDD-100A4445EC28}"/>
              </a:ext>
            </a:extLst>
          </p:cNvPr>
          <p:cNvSpPr txBox="1"/>
          <p:nvPr/>
        </p:nvSpPr>
        <p:spPr>
          <a:xfrm>
            <a:off x="14609789" y="2848093"/>
            <a:ext cx="16573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Softmax</a:t>
            </a:r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65FDA8-176C-ABC4-F088-00728CE1DD2A}"/>
              </a:ext>
            </a:extLst>
          </p:cNvPr>
          <p:cNvSpPr txBox="1"/>
          <p:nvPr/>
        </p:nvSpPr>
        <p:spPr>
          <a:xfrm>
            <a:off x="-2097974" y="6855508"/>
            <a:ext cx="191452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La couche Flatten transforme l'image 48*48 d'entrée en un vecteur de 2304 valeurs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BA3A38-127F-B5B1-A32A-C7A34287BD6A}"/>
              </a:ext>
            </a:extLst>
          </p:cNvPr>
          <p:cNvSpPr txBox="1"/>
          <p:nvPr/>
        </p:nvSpPr>
        <p:spPr>
          <a:xfrm>
            <a:off x="5341964" y="8429743"/>
            <a:ext cx="191452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La fonction d'activation ReLU garde uniquement les valeurs positives afin de créer de la complexité dans le modèle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E39247-7511-F908-284E-610791E4DEDD}"/>
              </a:ext>
            </a:extLst>
          </p:cNvPr>
          <p:cNvSpPr txBox="1"/>
          <p:nvPr/>
        </p:nvSpPr>
        <p:spPr>
          <a:xfrm>
            <a:off x="12331879" y="6855508"/>
            <a:ext cx="191452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Avoir des couches de plus en plus petites permet de cibler différents détails de l'image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98D82C-FAA6-7EA8-45C2-1C4109F02BF3}"/>
              </a:ext>
            </a:extLst>
          </p:cNvPr>
          <p:cNvSpPr txBox="1"/>
          <p:nvPr/>
        </p:nvSpPr>
        <p:spPr>
          <a:xfrm>
            <a:off x="14476439" y="5317808"/>
            <a:ext cx="191452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La fonction softmax donne une sortie à 7 probabilités pour les 7 classes du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B894BE-D92F-471F-2770-AD1BFBEA6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284" y="1316384"/>
            <a:ext cx="8373258" cy="350768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5876C29-E8AD-81C5-717F-78EEDE1DA36C}"/>
              </a:ext>
            </a:extLst>
          </p:cNvPr>
          <p:cNvSpPr txBox="1"/>
          <p:nvPr/>
        </p:nvSpPr>
        <p:spPr>
          <a:xfrm>
            <a:off x="1483360" y="5053943"/>
            <a:ext cx="739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err="1">
                <a:ea typeface="+mn-lt"/>
                <a:cs typeface="+mn-lt"/>
              </a:rPr>
              <a:t>Résultat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du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MLP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: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41,0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%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d</a:t>
            </a:r>
            <a:r>
              <a:rPr lang="zh-CN" altLang="en-US">
                <a:ea typeface="+mn-lt"/>
                <a:cs typeface="+mn-lt"/>
              </a:rPr>
              <a:t>’</a:t>
            </a:r>
            <a:r>
              <a:rPr lang="en-US" altLang="zh-CN">
                <a:ea typeface="+mn-lt"/>
                <a:cs typeface="+mn-lt"/>
              </a:rPr>
              <a:t>accuracy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 err="1">
                <a:ea typeface="+mn-lt"/>
                <a:cs typeface="+mn-lt"/>
              </a:rPr>
              <a:t>en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validation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(macro-F1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: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32,4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en-US" altLang="zh-CN">
                <a:ea typeface="+mn-lt"/>
                <a:cs typeface="+mn-lt"/>
              </a:rPr>
              <a:t>%)</a:t>
            </a:r>
            <a:endParaRPr lang="zh-CN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B30BA5-5E25-F1C2-4163-24FE57BBBBA4}"/>
              </a:ext>
            </a:extLst>
          </p:cNvPr>
          <p:cNvSpPr txBox="1"/>
          <p:nvPr/>
        </p:nvSpPr>
        <p:spPr>
          <a:xfrm>
            <a:off x="1485430" y="5727297"/>
            <a:ext cx="85824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>
                <a:ea typeface="+mn-lt"/>
                <a:cs typeface="+mn-lt"/>
              </a:rPr>
              <a:t>Limite : le Flatten fait perdre la position des pixels → le CNN garde cette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82631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990D8F-6655-A2F5-D0D5-CD45EFA317C1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1ADDF4-19D2-5263-C915-720A10E7DB7E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"/>
              </a:rPr>
              <a:t>Construction du CNN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D8933B7-7FA9-CC73-080F-336751943413}"/>
              </a:ext>
            </a:extLst>
          </p:cNvPr>
          <p:cNvSpPr/>
          <p:nvPr/>
        </p:nvSpPr>
        <p:spPr>
          <a:xfrm>
            <a:off x="1263072" y="2437748"/>
            <a:ext cx="498231" cy="4982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7AC784-2AFC-456E-4282-B8D0797B48AF}"/>
              </a:ext>
            </a:extLst>
          </p:cNvPr>
          <p:cNvSpPr txBox="1"/>
          <p:nvPr/>
        </p:nvSpPr>
        <p:spPr>
          <a:xfrm>
            <a:off x="2083838" y="2031077"/>
            <a:ext cx="5372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Feature Extractor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DBA178-2EAD-201A-6479-8003CA8D09BF}"/>
              </a:ext>
            </a:extLst>
          </p:cNvPr>
          <p:cNvSpPr txBox="1"/>
          <p:nvPr/>
        </p:nvSpPr>
        <p:spPr>
          <a:xfrm>
            <a:off x="2083531" y="2438209"/>
            <a:ext cx="827878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Bloc 1 : Convolution 3x3 (32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filtres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) +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ReLU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-&gt; Conv 3x3 (32) +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ReLU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-&gt;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MaxPool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2x2 -&gt; 24x24x32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Bloc 2 : Conv 3x3 (64) +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ReLU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-&gt; Conv 3x3 (64) +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ReLU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-&gt;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MaxPool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2x2 -&gt; 12x12x64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Bloc 3 : Conv 3x3 (128) +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ReLU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-&gt; Conv 3x3 (128) +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ReLU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-&gt;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MaxPool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2x2 -&gt; 6x6x128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DDF705-8A7B-BD39-FAAC-8C484FEDB893}"/>
              </a:ext>
            </a:extLst>
          </p:cNvPr>
          <p:cNvSpPr/>
          <p:nvPr/>
        </p:nvSpPr>
        <p:spPr>
          <a:xfrm>
            <a:off x="1263071" y="4317348"/>
            <a:ext cx="498231" cy="4982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3FADAC-BEAB-F880-80C4-E48C6D1C6BAD}"/>
              </a:ext>
            </a:extLst>
          </p:cNvPr>
          <p:cNvSpPr txBox="1"/>
          <p:nvPr/>
        </p:nvSpPr>
        <p:spPr>
          <a:xfrm>
            <a:off x="2083838" y="4063076"/>
            <a:ext cx="5372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Têtes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de classification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B0268F-5AE6-93EA-0D9B-4B053E992D17}"/>
              </a:ext>
            </a:extLst>
          </p:cNvPr>
          <p:cNvSpPr txBox="1"/>
          <p:nvPr/>
        </p:nvSpPr>
        <p:spPr>
          <a:xfrm>
            <a:off x="2083531" y="4561648"/>
            <a:ext cx="827878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Flatten (4608)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Dense 256 +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ReLU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-&gt; Dense 7 +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Softmax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CB47A2-863E-9E5A-2947-22030214C566}"/>
              </a:ext>
            </a:extLst>
          </p:cNvPr>
          <p:cNvSpPr txBox="1"/>
          <p:nvPr/>
        </p:nvSpPr>
        <p:spPr>
          <a:xfrm>
            <a:off x="752571" y="5963727"/>
            <a:ext cx="82787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Détails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: Padding, stride de 1, pas de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régularisation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pour la première version</a:t>
            </a:r>
          </a:p>
        </p:txBody>
      </p:sp>
    </p:spTree>
    <p:extLst>
      <p:ext uri="{BB962C8B-B14F-4D97-AF65-F5344CB8AC3E}">
        <p14:creationId xmlns:p14="http://schemas.microsoft.com/office/powerpoint/2010/main" val="215851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stique 1">
            <a:extLst>
              <a:ext uri="{FF2B5EF4-FFF2-40B4-BE49-F238E27FC236}">
                <a16:creationId xmlns:a16="http://schemas.microsoft.com/office/drawing/2014/main" id="{D24977E7-7C72-0399-294F-DE7346EEC2D3}"/>
              </a:ext>
            </a:extLst>
          </p:cNvPr>
          <p:cNvSpPr/>
          <p:nvPr/>
        </p:nvSpPr>
        <p:spPr>
          <a:xfrm>
            <a:off x="7191375" y="1856105"/>
            <a:ext cx="3665855" cy="4141470"/>
          </a:xfrm>
          <a:prstGeom prst="roundRect">
            <a:avLst>
              <a:gd name="adj" fmla="val 4705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endParaRPr lang="en-US" sz="4000" b="1" i="0">
              <a:solidFill>
                <a:schemeClr val="accent1"/>
              </a:solidFill>
            </a:endParaRPr>
          </a:p>
        </p:txBody>
      </p:sp>
      <p:sp>
        <p:nvSpPr>
          <p:cNvPr id="3" name="Statistique 1">
            <a:extLst>
              <a:ext uri="{FF2B5EF4-FFF2-40B4-BE49-F238E27FC236}">
                <a16:creationId xmlns:a16="http://schemas.microsoft.com/office/drawing/2014/main" id="{86CD7041-CCCB-AB0B-B810-AC9A6124B02B}"/>
              </a:ext>
            </a:extLst>
          </p:cNvPr>
          <p:cNvSpPr/>
          <p:nvPr/>
        </p:nvSpPr>
        <p:spPr>
          <a:xfrm>
            <a:off x="1143000" y="1856105"/>
            <a:ext cx="3723005" cy="4141470"/>
          </a:xfrm>
          <a:prstGeom prst="roundRect">
            <a:avLst>
              <a:gd name="adj" fmla="val 4705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endParaRPr lang="en-US" sz="4000" b="1" i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DBA45B-5C22-0E37-6BFE-85B09AABD3D0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C215B-6E70-5BC8-74EA-EB9AD087DEE8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bg1"/>
                </a:solidFill>
                <a:latin typeface="Franklin Gothic"/>
              </a:rPr>
              <a:t>Entraînement</a:t>
            </a:r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B3B702-F64E-0983-FCB4-772426428BC9}"/>
              </a:ext>
            </a:extLst>
          </p:cNvPr>
          <p:cNvSpPr txBox="1"/>
          <p:nvPr/>
        </p:nvSpPr>
        <p:spPr>
          <a:xfrm>
            <a:off x="1334409" y="2401689"/>
            <a:ext cx="341947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Fonction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de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perte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: cross-entropy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catégorique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</a:p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Batch size de 64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60 epochs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early stopping (patience de 10)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Learning rate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divisé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par 2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si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la validation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stagne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385EEB-3746-EBEC-DF9F-145ADFF72FC0}"/>
              </a:ext>
            </a:extLst>
          </p:cNvPr>
          <p:cNvSpPr txBox="1"/>
          <p:nvPr/>
        </p:nvSpPr>
        <p:spPr>
          <a:xfrm>
            <a:off x="7336741" y="2536831"/>
            <a:ext cx="341947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Accuracy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Macro-F1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Matrice de confusion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L'accuracy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ne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suffit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pas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lorsque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les classes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sont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déséquilibrées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E114C5-DE70-3840-B109-ED4D901D1470}"/>
              </a:ext>
            </a:extLst>
          </p:cNvPr>
          <p:cNvSpPr txBox="1"/>
          <p:nvPr/>
        </p:nvSpPr>
        <p:spPr>
          <a:xfrm>
            <a:off x="7891322" y="2039567"/>
            <a:ext cx="23171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Métriques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utilisées</a:t>
            </a:r>
            <a:endParaRPr lang="en-US" err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DAA35F-6B93-4DC4-6DC0-D041E53F8C95}"/>
              </a:ext>
            </a:extLst>
          </p:cNvPr>
          <p:cNvSpPr txBox="1"/>
          <p:nvPr/>
        </p:nvSpPr>
        <p:spPr>
          <a:xfrm>
            <a:off x="1886761" y="2039566"/>
            <a:ext cx="23171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solidFill>
                  <a:schemeClr val="accent1"/>
                </a:solidFill>
              </a:rPr>
              <a:t>Apprentissage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735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BA905-7AA0-A0C0-85BF-C482DAAF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63D065-D987-644B-2379-28E6E7B15281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86F2E-6F23-A20C-710E-7E5D711B567B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bg1"/>
                </a:solidFill>
                <a:latin typeface="Franklin Gothic"/>
              </a:rPr>
              <a:t>Résu</a:t>
            </a:r>
            <a:r>
              <a:rPr lang="en-US" sz="2800">
                <a:solidFill>
                  <a:schemeClr val="bg1"/>
                </a:solidFill>
                <a:latin typeface="Franklin Gothic"/>
              </a:rPr>
              <a:t>ltats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E5939A-B549-0D22-ECFA-537B86F7E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715" y="1850072"/>
            <a:ext cx="9883775" cy="41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99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03994E-1B9C-C07A-16FA-AE16154CCD86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66E6F-0E68-75B8-FD05-8D5F5D9883BC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bg1"/>
                </a:solidFill>
                <a:latin typeface="Franklin Gothic"/>
              </a:rPr>
              <a:t>Résulats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69DB4B-D173-FBEF-962B-7E0C8B1AB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02" r="51432" b="5914"/>
          <a:stretch>
            <a:fillRect/>
          </a:stretch>
        </p:blipFill>
        <p:spPr>
          <a:xfrm>
            <a:off x="600075" y="1504632"/>
            <a:ext cx="3830415" cy="27521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D5E1EA-3599-7AFD-704B-982FFBF3C6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92" t="5828" r="-128" b="6748"/>
          <a:stretch>
            <a:fillRect/>
          </a:stretch>
        </p:blipFill>
        <p:spPr>
          <a:xfrm>
            <a:off x="436941" y="4064952"/>
            <a:ext cx="3961566" cy="2753493"/>
          </a:xfrm>
          <a:prstGeom prst="rect">
            <a:avLst/>
          </a:prstGeom>
        </p:spPr>
      </p:pic>
      <p:sp>
        <p:nvSpPr>
          <p:cNvPr id="14" name="Statistique 1">
            <a:extLst>
              <a:ext uri="{FF2B5EF4-FFF2-40B4-BE49-F238E27FC236}">
                <a16:creationId xmlns:a16="http://schemas.microsoft.com/office/drawing/2014/main" id="{42DD74D9-E45F-B86F-A102-2F794D160B0B}"/>
              </a:ext>
            </a:extLst>
          </p:cNvPr>
          <p:cNvSpPr/>
          <p:nvPr/>
        </p:nvSpPr>
        <p:spPr>
          <a:xfrm>
            <a:off x="4876800" y="1732280"/>
            <a:ext cx="3484880" cy="2331720"/>
          </a:xfrm>
          <a:prstGeom prst="roundRect">
            <a:avLst>
              <a:gd name="adj" fmla="val 4705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4000" b="1">
                <a:solidFill>
                  <a:schemeClr val="accent1"/>
                </a:solidFill>
              </a:rPr>
              <a:t>0.547</a:t>
            </a:r>
            <a:endParaRPr lang="en-US"/>
          </a:p>
          <a:p>
            <a:r>
              <a:rPr sz="1600" b="0" i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d'accuracy</a:t>
            </a: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 de validation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pour le CNN de base, 0.137 de plus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que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le MLP (41,0 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%), </a:t>
            </a:r>
            <a:endParaRPr sz="1600" b="0" i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Statistique 2">
            <a:extLst>
              <a:ext uri="{FF2B5EF4-FFF2-40B4-BE49-F238E27FC236}">
                <a16:creationId xmlns:a16="http://schemas.microsoft.com/office/drawing/2014/main" id="{7A350D28-58A5-9F51-D30A-297F96C50EB5}"/>
              </a:ext>
            </a:extLst>
          </p:cNvPr>
          <p:cNvSpPr/>
          <p:nvPr/>
        </p:nvSpPr>
        <p:spPr>
          <a:xfrm>
            <a:off x="4871720" y="4262120"/>
            <a:ext cx="3484880" cy="2331720"/>
          </a:xfrm>
          <a:prstGeom prst="roundRect">
            <a:avLst>
              <a:gd name="adj" fmla="val 4705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sz="4000" b="1" i="0">
                <a:solidFill>
                  <a:schemeClr val="accent2">
                    <a:lumMod val="75000"/>
                  </a:schemeClr>
                </a:solidFill>
              </a:rPr>
              <a:t>95,3 %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d'accuracy d'entraînement, contre seulement 54,7 % en validation</a:t>
            </a:r>
          </a:p>
        </p:txBody>
      </p:sp>
      <p:sp>
        <p:nvSpPr>
          <p:cNvPr id="16" name="Conclusion surapprentissage">
            <a:extLst>
              <a:ext uri="{FF2B5EF4-FFF2-40B4-BE49-F238E27FC236}">
                <a16:creationId xmlns:a16="http://schemas.microsoft.com/office/drawing/2014/main" id="{C71DDBCF-BA59-BAEF-C965-EA3F47F5AA3F}"/>
              </a:ext>
            </a:extLst>
          </p:cNvPr>
          <p:cNvSpPr/>
          <p:nvPr/>
        </p:nvSpPr>
        <p:spPr>
          <a:xfrm>
            <a:off x="8727440" y="1747520"/>
            <a:ext cx="3241040" cy="4836160"/>
          </a:xfrm>
          <a:prstGeom prst="roundRect">
            <a:avLst>
              <a:gd name="adj" fmla="val 545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Ins="365760" bIns="18288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en-US">
                <a:solidFill>
                  <a:schemeClr val="bg1"/>
                </a:solidFill>
              </a:rPr>
              <a:t>Le CNN </a:t>
            </a:r>
            <a:r>
              <a:rPr lang="en-US" err="1">
                <a:solidFill>
                  <a:schemeClr val="bg1"/>
                </a:solidFill>
              </a:rPr>
              <a:t>exploite</a:t>
            </a:r>
            <a:r>
              <a:rPr sz="1800" b="0" i="0">
                <a:solidFill>
                  <a:schemeClr val="bg1"/>
                </a:solidFill>
              </a:rPr>
              <a:t> </a:t>
            </a:r>
            <a:r>
              <a:rPr sz="1800" b="0" i="0" err="1">
                <a:solidFill>
                  <a:schemeClr val="bg1"/>
                </a:solidFill>
              </a:rPr>
              <a:t>mieux</a:t>
            </a:r>
            <a:r>
              <a:rPr sz="1800" b="0" i="0">
                <a:solidFill>
                  <a:schemeClr val="bg1"/>
                </a:solidFill>
              </a:rPr>
              <a:t> la structure de </a:t>
            </a:r>
            <a:r>
              <a:rPr sz="1800" b="0" i="0" err="1">
                <a:solidFill>
                  <a:schemeClr val="bg1"/>
                </a:solidFill>
              </a:rPr>
              <a:t>l'image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sz="1800" b="0" i="0" err="1">
                <a:solidFill>
                  <a:schemeClr val="bg1"/>
                </a:solidFill>
              </a:rPr>
              <a:t>que</a:t>
            </a:r>
            <a:r>
              <a:rPr sz="1800" b="0" i="0">
                <a:solidFill>
                  <a:schemeClr val="bg1"/>
                </a:solidFill>
              </a:rPr>
              <a:t> le MLP, </a:t>
            </a:r>
            <a:r>
              <a:rPr sz="1800" b="0" i="0" err="1">
                <a:solidFill>
                  <a:schemeClr val="bg1"/>
                </a:solidFill>
              </a:rPr>
              <a:t>mais</a:t>
            </a:r>
            <a:r>
              <a:rPr sz="1800" b="0" i="0">
                <a:solidFill>
                  <a:schemeClr val="bg1"/>
                </a:solidFill>
              </a:rPr>
              <a:t> le réseau </a:t>
            </a:r>
            <a:r>
              <a:rPr lang="en-US" err="1">
                <a:solidFill>
                  <a:schemeClr val="bg1"/>
                </a:solidFill>
              </a:rPr>
              <a:t>ait</a:t>
            </a:r>
            <a:r>
              <a:rPr lang="en-US">
                <a:solidFill>
                  <a:schemeClr val="bg1"/>
                </a:solidFill>
              </a:rPr>
              <a:t> du </a:t>
            </a:r>
            <a:r>
              <a:rPr lang="en-US" err="1">
                <a:solidFill>
                  <a:schemeClr val="bg1"/>
                </a:solidFill>
              </a:rPr>
              <a:t>surapprentissage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1000"/>
              </a:spcAft>
            </a:pPr>
            <a:endParaRPr lang="en-US">
              <a:solidFill>
                <a:schemeClr val="bg1"/>
              </a:solidFill>
            </a:endParaRPr>
          </a:p>
          <a:p>
            <a:pPr>
              <a:spcAft>
                <a:spcPts val="1000"/>
              </a:spcAft>
            </a:pPr>
            <a:r>
              <a:rPr lang="en-US">
                <a:solidFill>
                  <a:schemeClr val="bg1"/>
                </a:solidFill>
              </a:rPr>
              <a:t>Pour </a:t>
            </a:r>
            <a:r>
              <a:rPr lang="en-US" err="1">
                <a:solidFill>
                  <a:schemeClr val="bg1"/>
                </a:solidFill>
              </a:rPr>
              <a:t>remédier</a:t>
            </a:r>
            <a:r>
              <a:rPr lang="en-US">
                <a:solidFill>
                  <a:schemeClr val="bg1"/>
                </a:solidFill>
              </a:rPr>
              <a:t> à </a:t>
            </a:r>
            <a:r>
              <a:rPr lang="en-US" err="1">
                <a:solidFill>
                  <a:schemeClr val="bg1"/>
                </a:solidFill>
              </a:rPr>
              <a:t>ça</a:t>
            </a:r>
            <a:r>
              <a:rPr lang="en-US">
                <a:solidFill>
                  <a:schemeClr val="bg1"/>
                </a:solidFill>
              </a:rPr>
              <a:t>, il faut </a:t>
            </a:r>
            <a:r>
              <a:rPr lang="en-US" b="1" err="1">
                <a:solidFill>
                  <a:schemeClr val="bg1"/>
                </a:solidFill>
              </a:rPr>
              <a:t>régulariser</a:t>
            </a:r>
            <a:endParaRPr lang="en-US" b="1" i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61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37E0E9-2E08-FC3D-27EE-10430698E0FF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58988-F9D1-C8A0-E612-01B72459E93B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bg1"/>
                </a:solidFill>
                <a:latin typeface="Franklin Gothic"/>
              </a:rPr>
              <a:t>Analyse</a:t>
            </a:r>
            <a:r>
              <a:rPr lang="en-US" sz="2800">
                <a:solidFill>
                  <a:schemeClr val="bg1"/>
                </a:solidFill>
                <a:latin typeface="Franklin Gothic"/>
              </a:rPr>
              <a:t> des </a:t>
            </a:r>
            <a:r>
              <a:rPr lang="en-US" sz="2800" err="1">
                <a:solidFill>
                  <a:schemeClr val="bg1"/>
                </a:solidFill>
                <a:latin typeface="Franklin Gothic"/>
              </a:rPr>
              <a:t>résultats</a:t>
            </a:r>
            <a:endParaRPr lang="en-US" err="1">
              <a:solidFill>
                <a:schemeClr val="bg1"/>
              </a:solidFill>
            </a:endParaRPr>
          </a:p>
        </p:txBody>
      </p:sp>
      <p:pic>
        <p:nvPicPr>
          <p:cNvPr id="8" name="Picture 7" descr="c37_1.png">
            <a:extLst>
              <a:ext uri="{FF2B5EF4-FFF2-40B4-BE49-F238E27FC236}">
                <a16:creationId xmlns:a16="http://schemas.microsoft.com/office/drawing/2014/main" id="{F3F93765-E993-04CA-24A9-6E6F754E8F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1357" y="1701800"/>
            <a:ext cx="5038725" cy="4572000"/>
          </a:xfrm>
          <a:prstGeom prst="rect">
            <a:avLst/>
          </a:prstGeom>
        </p:spPr>
      </p:pic>
      <p:sp>
        <p:nvSpPr>
          <p:cNvPr id="2" name="Les mieux reconnues">
            <a:extLst>
              <a:ext uri="{FF2B5EF4-FFF2-40B4-BE49-F238E27FC236}">
                <a16:creationId xmlns:a16="http://schemas.microsoft.com/office/drawing/2014/main" id="{DAB2E54E-9A80-0D88-6427-F092E2A4A5EA}"/>
              </a:ext>
            </a:extLst>
          </p:cNvPr>
          <p:cNvSpPr/>
          <p:nvPr/>
        </p:nvSpPr>
        <p:spPr>
          <a:xfrm>
            <a:off x="6231664" y="1685237"/>
            <a:ext cx="5598194" cy="1325880"/>
          </a:xfrm>
          <a:prstGeom prst="roundRect">
            <a:avLst>
              <a:gd name="adj" fmla="val 8275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1800" b="1" i="0">
                <a:solidFill>
                  <a:schemeClr val="accent1"/>
                </a:solidFill>
              </a:rPr>
              <a:t>Les mieux reconnues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Joie (F1 = 0,749) et Surprise (F1 = 0,674)</a:t>
            </a:r>
          </a:p>
        </p:txBody>
      </p:sp>
      <p:sp>
        <p:nvSpPr>
          <p:cNvPr id="3" name="Les plus difficiles">
            <a:extLst>
              <a:ext uri="{FF2B5EF4-FFF2-40B4-BE49-F238E27FC236}">
                <a16:creationId xmlns:a16="http://schemas.microsoft.com/office/drawing/2014/main" id="{C328A25C-8827-2EF8-6704-386FCD75E453}"/>
              </a:ext>
            </a:extLst>
          </p:cNvPr>
          <p:cNvSpPr/>
          <p:nvPr/>
        </p:nvSpPr>
        <p:spPr>
          <a:xfrm>
            <a:off x="6233055" y="3319710"/>
            <a:ext cx="5598194" cy="1325880"/>
          </a:xfrm>
          <a:prstGeom prst="roundRect">
            <a:avLst>
              <a:gd name="adj" fmla="val 8275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1800" b="1" i="0">
                <a:solidFill>
                  <a:schemeClr val="accent1"/>
                </a:solidFill>
              </a:rPr>
              <a:t>Les plus difficiles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Tristesse (0,397), Dégoût (0,407) et Peur (0,419)</a:t>
            </a:r>
          </a:p>
        </p:txBody>
      </p:sp>
      <p:sp>
        <p:nvSpPr>
          <p:cNvPr id="4" name="Confusions fréquentes">
            <a:extLst>
              <a:ext uri="{FF2B5EF4-FFF2-40B4-BE49-F238E27FC236}">
                <a16:creationId xmlns:a16="http://schemas.microsoft.com/office/drawing/2014/main" id="{8052B3AE-C1E6-CB42-B122-348D167315A0}"/>
              </a:ext>
            </a:extLst>
          </p:cNvPr>
          <p:cNvSpPr/>
          <p:nvPr/>
        </p:nvSpPr>
        <p:spPr>
          <a:xfrm>
            <a:off x="6233055" y="4934837"/>
            <a:ext cx="5598194" cy="1463040"/>
          </a:xfrm>
          <a:prstGeom prst="roundRect">
            <a:avLst>
              <a:gd name="adj" fmla="val 7500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1800" b="1" i="0">
                <a:solidFill>
                  <a:schemeClr val="accent1"/>
                </a:solidFill>
              </a:rPr>
              <a:t>Confusions fréquentes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Tristesse prédite Neutre : 22 %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Dégoût prédit Tristesse : 22 %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Peur prédite Tristesse : 19 %</a:t>
            </a:r>
          </a:p>
        </p:txBody>
      </p:sp>
    </p:spTree>
    <p:extLst>
      <p:ext uri="{BB962C8B-B14F-4D97-AF65-F5344CB8AC3E}">
        <p14:creationId xmlns:p14="http://schemas.microsoft.com/office/powerpoint/2010/main" val="2257369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B3C75D7-C232-F8AD-0FB7-986AE9EE3070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C9804-89A5-226B-6AB0-9107FA8993CB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bg1"/>
                </a:solidFill>
                <a:latin typeface="Franklin Gothic"/>
              </a:rPr>
              <a:t>Amélioration</a:t>
            </a:r>
            <a:r>
              <a:rPr lang="en-US" sz="2800">
                <a:solidFill>
                  <a:schemeClr val="bg1"/>
                </a:solidFill>
                <a:latin typeface="Franklin Gothic"/>
              </a:rPr>
              <a:t> du CNN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Carte E0">
            <a:extLst>
              <a:ext uri="{FF2B5EF4-FFF2-40B4-BE49-F238E27FC236}">
                <a16:creationId xmlns:a16="http://schemas.microsoft.com/office/drawing/2014/main" id="{E06A13CD-0EB6-712C-817B-C1A598746CC0}"/>
              </a:ext>
            </a:extLst>
          </p:cNvPr>
          <p:cNvSpPr/>
          <p:nvPr/>
        </p:nvSpPr>
        <p:spPr>
          <a:xfrm>
            <a:off x="548640" y="1600200"/>
            <a:ext cx="3484880" cy="2011680"/>
          </a:xfrm>
          <a:prstGeom prst="roundRect">
            <a:avLst>
              <a:gd name="adj" fmla="val 5454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Badge E0">
            <a:extLst>
              <a:ext uri="{FF2B5EF4-FFF2-40B4-BE49-F238E27FC236}">
                <a16:creationId xmlns:a16="http://schemas.microsoft.com/office/drawing/2014/main" id="{B6E9F354-BA56-BA5A-3800-5F13C7FD1189}"/>
              </a:ext>
            </a:extLst>
          </p:cNvPr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</a:rPr>
              <a:t>E0</a:t>
            </a:r>
          </a:p>
        </p:txBody>
      </p:sp>
      <p:sp>
        <p:nvSpPr>
          <p:cNvPr id="10" name="Titre E0">
            <a:extLst>
              <a:ext uri="{FF2B5EF4-FFF2-40B4-BE49-F238E27FC236}">
                <a16:creationId xmlns:a16="http://schemas.microsoft.com/office/drawing/2014/main" id="{DA0758B1-51A6-0214-02E1-DC2C12325130}"/>
              </a:ext>
            </a:extLst>
          </p:cNvPr>
          <p:cNvSpPr txBox="1"/>
          <p:nvPr/>
        </p:nvSpPr>
        <p:spPr>
          <a:xfrm>
            <a:off x="1554480" y="1828800"/>
            <a:ext cx="22961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800" b="1" i="0">
                <a:solidFill>
                  <a:schemeClr val="tx1">
                    <a:lumMod val="95000"/>
                    <a:lumOff val="5000"/>
                  </a:schemeClr>
                </a:solidFill>
              </a:rPr>
              <a:t>CNN de base</a:t>
            </a:r>
          </a:p>
        </p:txBody>
      </p:sp>
      <p:sp>
        <p:nvSpPr>
          <p:cNvPr id="11" name="Description E0">
            <a:extLst>
              <a:ext uri="{FF2B5EF4-FFF2-40B4-BE49-F238E27FC236}">
                <a16:creationId xmlns:a16="http://schemas.microsoft.com/office/drawing/2014/main" id="{0EF2F3E1-517A-8D86-007D-735E4CB5FE97}"/>
              </a:ext>
            </a:extLst>
          </p:cNvPr>
          <p:cNvSpPr txBox="1"/>
          <p:nvPr/>
        </p:nvSpPr>
        <p:spPr>
          <a:xfrm>
            <a:off x="777240" y="2606040"/>
            <a:ext cx="302768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Point de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départ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du CNN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Carte E1">
            <a:extLst>
              <a:ext uri="{FF2B5EF4-FFF2-40B4-BE49-F238E27FC236}">
                <a16:creationId xmlns:a16="http://schemas.microsoft.com/office/drawing/2014/main" id="{AADF2C9C-7743-E868-5FA5-F9061C3F0A4F}"/>
              </a:ext>
            </a:extLst>
          </p:cNvPr>
          <p:cNvSpPr/>
          <p:nvPr/>
        </p:nvSpPr>
        <p:spPr>
          <a:xfrm>
            <a:off x="4353560" y="1600200"/>
            <a:ext cx="3484880" cy="2011680"/>
          </a:xfrm>
          <a:prstGeom prst="roundRect">
            <a:avLst>
              <a:gd name="adj" fmla="val 5454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Badge E1">
            <a:extLst>
              <a:ext uri="{FF2B5EF4-FFF2-40B4-BE49-F238E27FC236}">
                <a16:creationId xmlns:a16="http://schemas.microsoft.com/office/drawing/2014/main" id="{D5329EA7-C43D-CD28-82B9-D97324EA6AA0}"/>
              </a:ext>
            </a:extLst>
          </p:cNvPr>
          <p:cNvSpPr/>
          <p:nvPr/>
        </p:nvSpPr>
        <p:spPr>
          <a:xfrm>
            <a:off x="4582160" y="182880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</a:rPr>
              <a:t>E1</a:t>
            </a:r>
          </a:p>
        </p:txBody>
      </p:sp>
      <p:sp>
        <p:nvSpPr>
          <p:cNvPr id="14" name="Titre E1">
            <a:extLst>
              <a:ext uri="{FF2B5EF4-FFF2-40B4-BE49-F238E27FC236}">
                <a16:creationId xmlns:a16="http://schemas.microsoft.com/office/drawing/2014/main" id="{0D2B43F6-D1FD-8A51-1275-DA7F33BEC8FF}"/>
              </a:ext>
            </a:extLst>
          </p:cNvPr>
          <p:cNvSpPr txBox="1"/>
          <p:nvPr/>
        </p:nvSpPr>
        <p:spPr>
          <a:xfrm>
            <a:off x="5359400" y="1828800"/>
            <a:ext cx="22961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800" b="1" i="0">
                <a:solidFill>
                  <a:schemeClr val="tx1">
                    <a:lumMod val="95000"/>
                    <a:lumOff val="5000"/>
                  </a:schemeClr>
                </a:solidFill>
              </a:rPr>
              <a:t>+ Dropout</a:t>
            </a:r>
          </a:p>
        </p:txBody>
      </p:sp>
      <p:sp>
        <p:nvSpPr>
          <p:cNvPr id="15" name="Description E1">
            <a:extLst>
              <a:ext uri="{FF2B5EF4-FFF2-40B4-BE49-F238E27FC236}">
                <a16:creationId xmlns:a16="http://schemas.microsoft.com/office/drawing/2014/main" id="{00ABF317-F7DA-573B-CCE6-2C44ADD39297}"/>
              </a:ext>
            </a:extLst>
          </p:cNvPr>
          <p:cNvSpPr txBox="1"/>
          <p:nvPr/>
        </p:nvSpPr>
        <p:spPr>
          <a:xfrm>
            <a:off x="4582160" y="2606040"/>
            <a:ext cx="302768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0,25 après </a:t>
            </a:r>
            <a:r>
              <a:rPr sz="1600" b="0" i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chaque</a:t>
            </a: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 bloc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 0,5 avant la couche de sortie.</a:t>
            </a:r>
          </a:p>
        </p:txBody>
      </p:sp>
      <p:sp>
        <p:nvSpPr>
          <p:cNvPr id="16" name="Carte E2">
            <a:extLst>
              <a:ext uri="{FF2B5EF4-FFF2-40B4-BE49-F238E27FC236}">
                <a16:creationId xmlns:a16="http://schemas.microsoft.com/office/drawing/2014/main" id="{8DFBD9AD-567A-6538-6088-72AF7594F3F3}"/>
              </a:ext>
            </a:extLst>
          </p:cNvPr>
          <p:cNvSpPr/>
          <p:nvPr/>
        </p:nvSpPr>
        <p:spPr>
          <a:xfrm>
            <a:off x="8158480" y="1600200"/>
            <a:ext cx="3484880" cy="2011680"/>
          </a:xfrm>
          <a:prstGeom prst="roundRect">
            <a:avLst>
              <a:gd name="adj" fmla="val 5454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Badge E2">
            <a:extLst>
              <a:ext uri="{FF2B5EF4-FFF2-40B4-BE49-F238E27FC236}">
                <a16:creationId xmlns:a16="http://schemas.microsoft.com/office/drawing/2014/main" id="{778C1406-C59C-69B7-C1D5-C8479D7491A2}"/>
              </a:ext>
            </a:extLst>
          </p:cNvPr>
          <p:cNvSpPr/>
          <p:nvPr/>
        </p:nvSpPr>
        <p:spPr>
          <a:xfrm>
            <a:off x="8387080" y="182880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</a:rPr>
              <a:t>E2</a:t>
            </a:r>
          </a:p>
        </p:txBody>
      </p:sp>
      <p:sp>
        <p:nvSpPr>
          <p:cNvPr id="18" name="Titre E2">
            <a:extLst>
              <a:ext uri="{FF2B5EF4-FFF2-40B4-BE49-F238E27FC236}">
                <a16:creationId xmlns:a16="http://schemas.microsoft.com/office/drawing/2014/main" id="{63742275-D162-A789-A9AD-5CD2F2AFF0F6}"/>
              </a:ext>
            </a:extLst>
          </p:cNvPr>
          <p:cNvSpPr txBox="1"/>
          <p:nvPr/>
        </p:nvSpPr>
        <p:spPr>
          <a:xfrm>
            <a:off x="9164320" y="1828800"/>
            <a:ext cx="22961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800" b="1" i="0">
                <a:solidFill>
                  <a:schemeClr val="tx1">
                    <a:lumMod val="95000"/>
                    <a:lumOff val="5000"/>
                  </a:schemeClr>
                </a:solidFill>
              </a:rPr>
              <a:t>+ Batch Normalization</a:t>
            </a:r>
          </a:p>
        </p:txBody>
      </p:sp>
      <p:sp>
        <p:nvSpPr>
          <p:cNvPr id="19" name="Description E2">
            <a:extLst>
              <a:ext uri="{FF2B5EF4-FFF2-40B4-BE49-F238E27FC236}">
                <a16:creationId xmlns:a16="http://schemas.microsoft.com/office/drawing/2014/main" id="{F9DAC301-A643-CAB1-E0D4-C6409F9DBB5B}"/>
              </a:ext>
            </a:extLst>
          </p:cNvPr>
          <p:cNvSpPr txBox="1"/>
          <p:nvPr/>
        </p:nvSpPr>
        <p:spPr>
          <a:xfrm>
            <a:off x="8387080" y="2606040"/>
            <a:ext cx="30276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Normalise les activations après chaque convolution.</a:t>
            </a:r>
          </a:p>
        </p:txBody>
      </p:sp>
      <p:sp>
        <p:nvSpPr>
          <p:cNvPr id="20" name="Carte E3">
            <a:extLst>
              <a:ext uri="{FF2B5EF4-FFF2-40B4-BE49-F238E27FC236}">
                <a16:creationId xmlns:a16="http://schemas.microsoft.com/office/drawing/2014/main" id="{B5CB2AF0-149C-93DA-9E07-CC97FEC689E9}"/>
              </a:ext>
            </a:extLst>
          </p:cNvPr>
          <p:cNvSpPr/>
          <p:nvPr/>
        </p:nvSpPr>
        <p:spPr>
          <a:xfrm>
            <a:off x="548640" y="3886200"/>
            <a:ext cx="3484880" cy="2011680"/>
          </a:xfrm>
          <a:prstGeom prst="roundRect">
            <a:avLst>
              <a:gd name="adj" fmla="val 5454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Badge E3">
            <a:extLst>
              <a:ext uri="{FF2B5EF4-FFF2-40B4-BE49-F238E27FC236}">
                <a16:creationId xmlns:a16="http://schemas.microsoft.com/office/drawing/2014/main" id="{4C077D07-1B3A-09E8-ACA1-55F019736DB7}"/>
              </a:ext>
            </a:extLst>
          </p:cNvPr>
          <p:cNvSpPr/>
          <p:nvPr/>
        </p:nvSpPr>
        <p:spPr>
          <a:xfrm>
            <a:off x="777240" y="411480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</a:rPr>
              <a:t>E3</a:t>
            </a:r>
          </a:p>
        </p:txBody>
      </p:sp>
      <p:sp>
        <p:nvSpPr>
          <p:cNvPr id="22" name="Titre E3">
            <a:extLst>
              <a:ext uri="{FF2B5EF4-FFF2-40B4-BE49-F238E27FC236}">
                <a16:creationId xmlns:a16="http://schemas.microsoft.com/office/drawing/2014/main" id="{5C5E9E77-43D2-304A-053F-805425130C4B}"/>
              </a:ext>
            </a:extLst>
          </p:cNvPr>
          <p:cNvSpPr txBox="1"/>
          <p:nvPr/>
        </p:nvSpPr>
        <p:spPr>
          <a:xfrm>
            <a:off x="1554480" y="4114800"/>
            <a:ext cx="22961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800" b="1" i="0">
                <a:solidFill>
                  <a:schemeClr val="tx1">
                    <a:lumMod val="95000"/>
                    <a:lumOff val="5000"/>
                  </a:schemeClr>
                </a:solidFill>
              </a:rPr>
              <a:t>+ Data Augmentation</a:t>
            </a:r>
          </a:p>
        </p:txBody>
      </p:sp>
      <p:sp>
        <p:nvSpPr>
          <p:cNvPr id="23" name="Description E3">
            <a:extLst>
              <a:ext uri="{FF2B5EF4-FFF2-40B4-BE49-F238E27FC236}">
                <a16:creationId xmlns:a16="http://schemas.microsoft.com/office/drawing/2014/main" id="{BEC69078-C26D-A86E-0B82-71E4AD74847F}"/>
              </a:ext>
            </a:extLst>
          </p:cNvPr>
          <p:cNvSpPr txBox="1"/>
          <p:nvPr/>
        </p:nvSpPr>
        <p:spPr>
          <a:xfrm>
            <a:off x="777240" y="4892040"/>
            <a:ext cx="302768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600" b="0" i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Miroir</a:t>
            </a: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, rotation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 translation et 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zoom.</a:t>
            </a:r>
            <a:endParaRPr sz="1600" b="0" i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Carte E4">
            <a:extLst>
              <a:ext uri="{FF2B5EF4-FFF2-40B4-BE49-F238E27FC236}">
                <a16:creationId xmlns:a16="http://schemas.microsoft.com/office/drawing/2014/main" id="{B1EC2A64-341B-4E40-4757-5FDD18A0B901}"/>
              </a:ext>
            </a:extLst>
          </p:cNvPr>
          <p:cNvSpPr/>
          <p:nvPr/>
        </p:nvSpPr>
        <p:spPr>
          <a:xfrm>
            <a:off x="4353560" y="3886200"/>
            <a:ext cx="3484880" cy="2011680"/>
          </a:xfrm>
          <a:prstGeom prst="roundRect">
            <a:avLst>
              <a:gd name="adj" fmla="val 5454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Badge E4">
            <a:extLst>
              <a:ext uri="{FF2B5EF4-FFF2-40B4-BE49-F238E27FC236}">
                <a16:creationId xmlns:a16="http://schemas.microsoft.com/office/drawing/2014/main" id="{B3764453-01D3-3EF4-000A-1F35E7BD4375}"/>
              </a:ext>
            </a:extLst>
          </p:cNvPr>
          <p:cNvSpPr/>
          <p:nvPr/>
        </p:nvSpPr>
        <p:spPr>
          <a:xfrm>
            <a:off x="4582160" y="411480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</a:rPr>
              <a:t>E4</a:t>
            </a:r>
          </a:p>
        </p:txBody>
      </p:sp>
      <p:sp>
        <p:nvSpPr>
          <p:cNvPr id="26" name="Titre E4">
            <a:extLst>
              <a:ext uri="{FF2B5EF4-FFF2-40B4-BE49-F238E27FC236}">
                <a16:creationId xmlns:a16="http://schemas.microsoft.com/office/drawing/2014/main" id="{A7FA0485-29AA-935C-68BC-82C9CD6C1B86}"/>
              </a:ext>
            </a:extLst>
          </p:cNvPr>
          <p:cNvSpPr txBox="1"/>
          <p:nvPr/>
        </p:nvSpPr>
        <p:spPr>
          <a:xfrm>
            <a:off x="5359400" y="4114800"/>
            <a:ext cx="22961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800" b="1" i="0">
                <a:solidFill>
                  <a:schemeClr val="tx1">
                    <a:lumMod val="95000"/>
                    <a:lumOff val="5000"/>
                  </a:schemeClr>
                </a:solidFill>
              </a:rPr>
              <a:t>Filtres × 2</a:t>
            </a:r>
          </a:p>
        </p:txBody>
      </p:sp>
      <p:sp>
        <p:nvSpPr>
          <p:cNvPr id="27" name="Description E4">
            <a:extLst>
              <a:ext uri="{FF2B5EF4-FFF2-40B4-BE49-F238E27FC236}">
                <a16:creationId xmlns:a16="http://schemas.microsoft.com/office/drawing/2014/main" id="{47FA1615-7D95-53E9-E038-9F87FBCF41B3}"/>
              </a:ext>
            </a:extLst>
          </p:cNvPr>
          <p:cNvSpPr txBox="1"/>
          <p:nvPr/>
        </p:nvSpPr>
        <p:spPr>
          <a:xfrm>
            <a:off x="4582160" y="4892040"/>
            <a:ext cx="30276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64, 128 et 256 filtres au lieu de 32, 64 et 128.</a:t>
            </a:r>
          </a:p>
        </p:txBody>
      </p:sp>
      <p:sp>
        <p:nvSpPr>
          <p:cNvPr id="28" name="Carte E5">
            <a:extLst>
              <a:ext uri="{FF2B5EF4-FFF2-40B4-BE49-F238E27FC236}">
                <a16:creationId xmlns:a16="http://schemas.microsoft.com/office/drawing/2014/main" id="{77E946B9-5141-0610-F504-150E0698D799}"/>
              </a:ext>
            </a:extLst>
          </p:cNvPr>
          <p:cNvSpPr/>
          <p:nvPr/>
        </p:nvSpPr>
        <p:spPr>
          <a:xfrm>
            <a:off x="8158480" y="3886200"/>
            <a:ext cx="3484880" cy="2011680"/>
          </a:xfrm>
          <a:prstGeom prst="roundRect">
            <a:avLst>
              <a:gd name="adj" fmla="val 5454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9" name="Badge E5">
            <a:extLst>
              <a:ext uri="{FF2B5EF4-FFF2-40B4-BE49-F238E27FC236}">
                <a16:creationId xmlns:a16="http://schemas.microsoft.com/office/drawing/2014/main" id="{681E7CF2-9D55-4234-203A-A6622455565F}"/>
              </a:ext>
            </a:extLst>
          </p:cNvPr>
          <p:cNvSpPr/>
          <p:nvPr/>
        </p:nvSpPr>
        <p:spPr>
          <a:xfrm>
            <a:off x="8387080" y="411480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</a:rPr>
              <a:t>E5</a:t>
            </a:r>
          </a:p>
        </p:txBody>
      </p:sp>
      <p:sp>
        <p:nvSpPr>
          <p:cNvPr id="30" name="Titre E5">
            <a:extLst>
              <a:ext uri="{FF2B5EF4-FFF2-40B4-BE49-F238E27FC236}">
                <a16:creationId xmlns:a16="http://schemas.microsoft.com/office/drawing/2014/main" id="{8C37290B-2491-68D3-CFF7-85DFDAADFBF2}"/>
              </a:ext>
            </a:extLst>
          </p:cNvPr>
          <p:cNvSpPr txBox="1"/>
          <p:nvPr/>
        </p:nvSpPr>
        <p:spPr>
          <a:xfrm>
            <a:off x="9164320" y="4114800"/>
            <a:ext cx="2296160" cy="6400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Meilleur 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modèle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sz="1800" b="1" i="0">
                <a:solidFill>
                  <a:schemeClr val="tx1">
                    <a:lumMod val="95000"/>
                    <a:lumOff val="5000"/>
                  </a:schemeClr>
                </a:solidFill>
              </a:rPr>
              <a:t>+ </a:t>
            </a:r>
            <a:r>
              <a:rPr sz="1800" b="1" i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Pondération</a:t>
            </a:r>
            <a:r>
              <a:rPr sz="1800" b="1" i="0">
                <a:solidFill>
                  <a:schemeClr val="tx1">
                    <a:lumMod val="95000"/>
                    <a:lumOff val="5000"/>
                  </a:schemeClr>
                </a:solidFill>
              </a:rPr>
              <a:t> des classes</a:t>
            </a:r>
          </a:p>
        </p:txBody>
      </p:sp>
      <p:sp>
        <p:nvSpPr>
          <p:cNvPr id="31" name="Description E5">
            <a:extLst>
              <a:ext uri="{FF2B5EF4-FFF2-40B4-BE49-F238E27FC236}">
                <a16:creationId xmlns:a16="http://schemas.microsoft.com/office/drawing/2014/main" id="{F259947A-4BC6-F2FA-5FCF-1AFDD2258CE7}"/>
              </a:ext>
            </a:extLst>
          </p:cNvPr>
          <p:cNvSpPr txBox="1"/>
          <p:nvPr/>
        </p:nvSpPr>
        <p:spPr>
          <a:xfrm>
            <a:off x="8387080" y="4766780"/>
            <a:ext cx="302768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On part du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meilleur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modèle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de E0 à E4 et on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ajoute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un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poids</a:t>
            </a: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 par </a:t>
            </a:r>
            <a:r>
              <a:rPr sz="1600" b="0" i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classe</a:t>
            </a: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 pour </a:t>
            </a:r>
            <a:r>
              <a:rPr sz="1600" b="0" i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compenser</a:t>
            </a: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 les classes </a:t>
            </a:r>
            <a:r>
              <a:rPr sz="1600" b="0" i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rares</a:t>
            </a: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1791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es mieux reconnues">
            <a:extLst>
              <a:ext uri="{FF2B5EF4-FFF2-40B4-BE49-F238E27FC236}">
                <a16:creationId xmlns:a16="http://schemas.microsoft.com/office/drawing/2014/main" id="{7B96D602-E8CA-3A8E-976D-832A167DEA72}"/>
              </a:ext>
            </a:extLst>
          </p:cNvPr>
          <p:cNvSpPr/>
          <p:nvPr/>
        </p:nvSpPr>
        <p:spPr>
          <a:xfrm>
            <a:off x="9116304" y="4992630"/>
            <a:ext cx="2416844" cy="1240155"/>
          </a:xfrm>
          <a:prstGeom prst="roundRect">
            <a:avLst>
              <a:gd name="adj" fmla="val 8275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endParaRPr lang="en-US" b="1" i="0">
              <a:solidFill>
                <a:schemeClr val="accent1"/>
              </a:solidFill>
            </a:endParaRPr>
          </a:p>
        </p:txBody>
      </p:sp>
      <p:sp>
        <p:nvSpPr>
          <p:cNvPr id="24" name="Les mieux reconnues">
            <a:extLst>
              <a:ext uri="{FF2B5EF4-FFF2-40B4-BE49-F238E27FC236}">
                <a16:creationId xmlns:a16="http://schemas.microsoft.com/office/drawing/2014/main" id="{2CE055C0-6678-F437-DD00-D5E5AF8F922E}"/>
              </a:ext>
            </a:extLst>
          </p:cNvPr>
          <p:cNvSpPr/>
          <p:nvPr/>
        </p:nvSpPr>
        <p:spPr>
          <a:xfrm>
            <a:off x="6306429" y="5002155"/>
            <a:ext cx="2416844" cy="1240155"/>
          </a:xfrm>
          <a:prstGeom prst="roundRect">
            <a:avLst>
              <a:gd name="adj" fmla="val 8275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endParaRPr lang="en-US" b="1" i="0">
              <a:solidFill>
                <a:schemeClr val="accent1"/>
              </a:solidFill>
            </a:endParaRPr>
          </a:p>
        </p:txBody>
      </p:sp>
      <p:sp>
        <p:nvSpPr>
          <p:cNvPr id="22" name="Les mieux reconnues">
            <a:extLst>
              <a:ext uri="{FF2B5EF4-FFF2-40B4-BE49-F238E27FC236}">
                <a16:creationId xmlns:a16="http://schemas.microsoft.com/office/drawing/2014/main" id="{55EE3855-6278-9966-A963-02B3656C69CD}"/>
              </a:ext>
            </a:extLst>
          </p:cNvPr>
          <p:cNvSpPr/>
          <p:nvPr/>
        </p:nvSpPr>
        <p:spPr>
          <a:xfrm>
            <a:off x="3544179" y="4992630"/>
            <a:ext cx="2416844" cy="1335405"/>
          </a:xfrm>
          <a:prstGeom prst="roundRect">
            <a:avLst>
              <a:gd name="adj" fmla="val 8275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endParaRPr lang="en-US" b="1" i="0">
              <a:solidFill>
                <a:schemeClr val="accent1"/>
              </a:solidFill>
            </a:endParaRPr>
          </a:p>
        </p:txBody>
      </p:sp>
      <p:sp>
        <p:nvSpPr>
          <p:cNvPr id="19" name="Les mieux reconnues">
            <a:extLst>
              <a:ext uri="{FF2B5EF4-FFF2-40B4-BE49-F238E27FC236}">
                <a16:creationId xmlns:a16="http://schemas.microsoft.com/office/drawing/2014/main" id="{AC797C49-8410-F74A-43C1-3E6214BE0906}"/>
              </a:ext>
            </a:extLst>
          </p:cNvPr>
          <p:cNvSpPr/>
          <p:nvPr/>
        </p:nvSpPr>
        <p:spPr>
          <a:xfrm>
            <a:off x="972429" y="4992630"/>
            <a:ext cx="2407319" cy="1335405"/>
          </a:xfrm>
          <a:prstGeom prst="roundRect">
            <a:avLst>
              <a:gd name="adj" fmla="val 8275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endParaRPr lang="en-US" b="1" i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79F526-DFB3-24CF-9DCD-6ACA7CACCB77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pic>
        <p:nvPicPr>
          <p:cNvPr id="8" name="Picture 7" descr="c44_1.png">
            <a:extLst>
              <a:ext uri="{FF2B5EF4-FFF2-40B4-BE49-F238E27FC236}">
                <a16:creationId xmlns:a16="http://schemas.microsoft.com/office/drawing/2014/main" id="{81A99026-5F9F-EA7E-AB6E-C6F5AED8F9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3"/>
          <a:stretch>
            <a:fillRect/>
          </a:stretch>
        </p:blipFill>
        <p:spPr>
          <a:xfrm>
            <a:off x="1981200" y="1927964"/>
            <a:ext cx="8229600" cy="2866962"/>
          </a:xfrm>
          <a:prstGeom prst="rect">
            <a:avLst/>
          </a:prstGeom>
        </p:spPr>
      </p:pic>
      <p:sp>
        <p:nvSpPr>
          <p:cNvPr id="10" name="Badge E1">
            <a:extLst>
              <a:ext uri="{FF2B5EF4-FFF2-40B4-BE49-F238E27FC236}">
                <a16:creationId xmlns:a16="http://schemas.microsoft.com/office/drawing/2014/main" id="{3F1CBE07-3420-B230-72A4-AB5FBABAA8B8}"/>
              </a:ext>
            </a:extLst>
          </p:cNvPr>
          <p:cNvSpPr/>
          <p:nvPr/>
        </p:nvSpPr>
        <p:spPr>
          <a:xfrm>
            <a:off x="1237450" y="5383843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</a:rPr>
              <a:t>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B37CEF-4056-C77D-6A77-3EEFADB8209F}"/>
              </a:ext>
            </a:extLst>
          </p:cNvPr>
          <p:cNvSpPr txBox="1"/>
          <p:nvPr/>
        </p:nvSpPr>
        <p:spPr>
          <a:xfrm>
            <a:off x="2036915" y="5641018"/>
            <a:ext cx="11620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0.606</a:t>
            </a:r>
            <a:endParaRPr 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Badge E1">
            <a:extLst>
              <a:ext uri="{FF2B5EF4-FFF2-40B4-BE49-F238E27FC236}">
                <a16:creationId xmlns:a16="http://schemas.microsoft.com/office/drawing/2014/main" id="{B1684EA9-8759-84EA-47BA-32A8759A2D2F}"/>
              </a:ext>
            </a:extLst>
          </p:cNvPr>
          <p:cNvSpPr/>
          <p:nvPr/>
        </p:nvSpPr>
        <p:spPr>
          <a:xfrm>
            <a:off x="3780625" y="5336217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US" sz="1600" b="1">
                <a:solidFill>
                  <a:schemeClr val="bg1"/>
                </a:solidFill>
              </a:rPr>
              <a:t>E2</a:t>
            </a:r>
            <a:endParaRPr sz="1600" b="1" i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1C1D9-C439-980D-0E4A-0F096E3FB14C}"/>
              </a:ext>
            </a:extLst>
          </p:cNvPr>
          <p:cNvSpPr txBox="1"/>
          <p:nvPr/>
        </p:nvSpPr>
        <p:spPr>
          <a:xfrm>
            <a:off x="4522940" y="5641017"/>
            <a:ext cx="11620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0.647</a:t>
            </a:r>
            <a:endParaRPr 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Badge E1">
            <a:extLst>
              <a:ext uri="{FF2B5EF4-FFF2-40B4-BE49-F238E27FC236}">
                <a16:creationId xmlns:a16="http://schemas.microsoft.com/office/drawing/2014/main" id="{0E1A2500-DF7B-05AB-11C5-55E0B7B360A1}"/>
              </a:ext>
            </a:extLst>
          </p:cNvPr>
          <p:cNvSpPr/>
          <p:nvPr/>
        </p:nvSpPr>
        <p:spPr>
          <a:xfrm>
            <a:off x="6409525" y="5326692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US" sz="1600" b="1">
                <a:solidFill>
                  <a:schemeClr val="bg1"/>
                </a:solidFill>
              </a:rPr>
              <a:t>E3</a:t>
            </a:r>
            <a:endParaRPr sz="1600" b="1" i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EC85CB-CC09-58DD-6D6E-22BBB559CCEC}"/>
              </a:ext>
            </a:extLst>
          </p:cNvPr>
          <p:cNvSpPr txBox="1"/>
          <p:nvPr/>
        </p:nvSpPr>
        <p:spPr>
          <a:xfrm>
            <a:off x="7256614" y="5564817"/>
            <a:ext cx="11620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0.632</a:t>
            </a:r>
            <a:endParaRPr 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Badge E1">
            <a:extLst>
              <a:ext uri="{FF2B5EF4-FFF2-40B4-BE49-F238E27FC236}">
                <a16:creationId xmlns:a16="http://schemas.microsoft.com/office/drawing/2014/main" id="{4266D911-C357-F636-B5EF-F5E337E2A1E5}"/>
              </a:ext>
            </a:extLst>
          </p:cNvPr>
          <p:cNvSpPr/>
          <p:nvPr/>
        </p:nvSpPr>
        <p:spPr>
          <a:xfrm>
            <a:off x="9305125" y="5336217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US" sz="1600" b="1">
                <a:solidFill>
                  <a:schemeClr val="bg1"/>
                </a:solidFill>
              </a:rPr>
              <a:t>E4</a:t>
            </a:r>
            <a:endParaRPr sz="1600" b="1" i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6CBCD5-914B-EF38-57E7-5BA7BBD038E6}"/>
              </a:ext>
            </a:extLst>
          </p:cNvPr>
          <p:cNvSpPr txBox="1"/>
          <p:nvPr/>
        </p:nvSpPr>
        <p:spPr>
          <a:xfrm>
            <a:off x="10097935" y="5561294"/>
            <a:ext cx="11620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0.661</a:t>
            </a:r>
            <a:endParaRPr lang="en-US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B7593-F7A3-7467-7581-00DED8CF3476}"/>
              </a:ext>
            </a:extLst>
          </p:cNvPr>
          <p:cNvSpPr txBox="1"/>
          <p:nvPr/>
        </p:nvSpPr>
        <p:spPr>
          <a:xfrm>
            <a:off x="2036915" y="5269542"/>
            <a:ext cx="11620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+Dropout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E9C7DB-40D2-E9C2-FE00-3A4BB1999E02}"/>
              </a:ext>
            </a:extLst>
          </p:cNvPr>
          <p:cNvSpPr txBox="1"/>
          <p:nvPr/>
        </p:nvSpPr>
        <p:spPr>
          <a:xfrm>
            <a:off x="4322915" y="5269542"/>
            <a:ext cx="1562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+Batch Norm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A7C861-7CB1-D092-6E56-F91BD036052F}"/>
              </a:ext>
            </a:extLst>
          </p:cNvPr>
          <p:cNvSpPr txBox="1"/>
          <p:nvPr/>
        </p:nvSpPr>
        <p:spPr>
          <a:xfrm>
            <a:off x="6818465" y="5250492"/>
            <a:ext cx="20383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+Augmentation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7DE546-A6F0-1EEF-ACFC-F40A20941B5B}"/>
              </a:ext>
            </a:extLst>
          </p:cNvPr>
          <p:cNvSpPr txBox="1"/>
          <p:nvPr/>
        </p:nvSpPr>
        <p:spPr>
          <a:xfrm>
            <a:off x="9897780" y="5250491"/>
            <a:ext cx="16416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Filtres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x2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A05D9-0309-C079-CCD4-786387D54E70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solidFill>
                  <a:schemeClr val="bg1"/>
                </a:solidFill>
                <a:latin typeface="Franklin Gothic"/>
              </a:rPr>
              <a:t>Résultats</a:t>
            </a:r>
            <a:r>
              <a:rPr lang="en-US" sz="2800">
                <a:solidFill>
                  <a:schemeClr val="bg1"/>
                </a:solidFill>
                <a:latin typeface="Franklin Gothic"/>
              </a:rPr>
              <a:t> des </a:t>
            </a:r>
            <a:r>
              <a:rPr lang="en-US" sz="2800" err="1">
                <a:solidFill>
                  <a:schemeClr val="bg1"/>
                </a:solidFill>
                <a:latin typeface="Franklin Gothic"/>
              </a:rPr>
              <a:t>améliorations</a:t>
            </a:r>
            <a:r>
              <a:rPr lang="en-US" sz="2800">
                <a:solidFill>
                  <a:schemeClr val="bg1"/>
                </a:solidFill>
                <a:latin typeface="Franklin Gothic"/>
              </a:rPr>
              <a:t> du CNN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834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6F0F91-66D8-5F35-C3CD-3BAE989F3A05}"/>
              </a:ext>
            </a:extLst>
          </p:cNvPr>
          <p:cNvGraphicFramePr>
            <a:graphicFrameLocks noGrp="1"/>
          </p:cNvGraphicFramePr>
          <p:nvPr/>
        </p:nvGraphicFramePr>
        <p:xfrm>
          <a:off x="557212" y="1714500"/>
          <a:ext cx="11077575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86125">
                  <a:extLst>
                    <a:ext uri="{9D8B030D-6E8A-4147-A177-3AD203B41FA5}">
                      <a16:colId xmlns:a16="http://schemas.microsoft.com/office/drawing/2014/main" val="302072396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1682618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79132969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296616582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374722347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3169792838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Modèle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Paramètres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Acc. train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Acc. val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Macro-F1 val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Écart train-val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64894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MLP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623 879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0,479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0,410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0,324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0,068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85118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E0 · CNN de base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1 468 135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0,953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0,547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0,514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0,406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29227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E1 · + Dropout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1 468 135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0,734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0,606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0,577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0,129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69429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E2 · + Dropout + BatchNorm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1 470 503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0,895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0,647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0,623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0,248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69169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E3 · + Augmentation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1 470 503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0,639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0,632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0,568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0,006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528009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E4 · Filtres × 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3 509 319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0,717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0,661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0,612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0,056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74023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E5 · Pondération des classes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3 509 319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0,637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0,642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0,597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−0,005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650917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3D17D6C2-4921-CD2B-2630-B3C518743053}"/>
              </a:ext>
            </a:extLst>
          </p:cNvPr>
          <p:cNvSpPr/>
          <p:nvPr/>
        </p:nvSpPr>
        <p:spPr>
          <a:xfrm>
            <a:off x="-278" y="-835"/>
            <a:ext cx="12191721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47DA36-4321-2377-B3E4-792A3464F7C2}"/>
              </a:ext>
            </a:extLst>
          </p:cNvPr>
          <p:cNvSpPr txBox="1"/>
          <p:nvPr/>
        </p:nvSpPr>
        <p:spPr>
          <a:xfrm>
            <a:off x="469725" y="392876"/>
            <a:ext cx="112537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"/>
              </a:rPr>
              <a:t>Tableau </a:t>
            </a:r>
            <a:r>
              <a:rPr lang="en-US" sz="2800" err="1">
                <a:solidFill>
                  <a:schemeClr val="bg1"/>
                </a:solidFill>
                <a:latin typeface="Franklin Gothic"/>
              </a:rPr>
              <a:t>comparatif</a:t>
            </a:r>
            <a:r>
              <a:rPr lang="en-US" sz="2800">
                <a:solidFill>
                  <a:schemeClr val="bg1"/>
                </a:solidFill>
                <a:latin typeface="Franklin Gothic"/>
              </a:rPr>
              <a:t> et choix du </a:t>
            </a:r>
            <a:r>
              <a:rPr lang="en-US" sz="2800" err="1">
                <a:solidFill>
                  <a:schemeClr val="bg1"/>
                </a:solidFill>
                <a:latin typeface="Franklin Gothic"/>
              </a:rPr>
              <a:t>modèle</a:t>
            </a:r>
          </a:p>
        </p:txBody>
      </p:sp>
      <p:sp>
        <p:nvSpPr>
          <p:cNvPr id="15" name="Description E5">
            <a:extLst>
              <a:ext uri="{FF2B5EF4-FFF2-40B4-BE49-F238E27FC236}">
                <a16:creationId xmlns:a16="http://schemas.microsoft.com/office/drawing/2014/main" id="{A220B17C-E449-AF23-507C-3590FA757E22}"/>
              </a:ext>
            </a:extLst>
          </p:cNvPr>
          <p:cNvSpPr txBox="1"/>
          <p:nvPr/>
        </p:nvSpPr>
        <p:spPr>
          <a:xfrm>
            <a:off x="558312" y="5654040"/>
            <a:ext cx="11065213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On garde le </a:t>
            </a:r>
            <a:r>
              <a:rPr lang="en-US" sz="16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modèle</a:t>
            </a: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 E2. 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Il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possède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le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meilleur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score macro-F1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en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validation,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c'est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le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meilleur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critère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dans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notre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600" err="1">
                <a:solidFill>
                  <a:schemeClr val="tx1">
                    <a:lumMod val="95000"/>
                    <a:lumOff val="5000"/>
                  </a:schemeClr>
                </a:solidFill>
              </a:rPr>
              <a:t>cas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(7 classes déséquilibrées).</a:t>
            </a:r>
          </a:p>
        </p:txBody>
      </p:sp>
    </p:spTree>
    <p:extLst>
      <p:ext uri="{BB962C8B-B14F-4D97-AF65-F5344CB8AC3E}">
        <p14:creationId xmlns:p14="http://schemas.microsoft.com/office/powerpoint/2010/main" val="1582882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ndeau titre">
            <a:extLst>
              <a:ext uri="{FF2B5EF4-FFF2-40B4-BE49-F238E27FC236}">
                <a16:creationId xmlns:a16="http://schemas.microsoft.com/office/drawing/2014/main" id="{914F2E40-F044-04F4-9C8B-88BD803653E9}"/>
              </a:ext>
            </a:extLst>
          </p:cNvPr>
          <p:cNvSpPr/>
          <p:nvPr/>
        </p:nvSpPr>
        <p:spPr>
          <a:xfrm>
            <a:off x="0" y="0"/>
            <a:ext cx="12192000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92651F-45D0-F63E-DF04-359E32E9ACB9}"/>
              </a:ext>
            </a:extLst>
          </p:cNvPr>
          <p:cNvSpPr>
            <a:spLocks noGrp="1"/>
          </p:cNvSpPr>
          <p:nvPr/>
        </p:nvSpPr>
        <p:spPr>
          <a:xfrm>
            <a:off x="469725" y="392876"/>
            <a:ext cx="11253722" cy="52322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800" b="0">
                <a:solidFill>
                  <a:schemeClr val="bg1"/>
                </a:solidFill>
                <a:latin typeface="Franklin Gothic"/>
              </a:rPr>
              <a:t>E5 : la pondération des classes</a:t>
            </a:r>
          </a:p>
        </p:txBody>
      </p:sp>
      <p:pic>
        <p:nvPicPr>
          <p:cNvPr id="10" name="Rappel par classe E4 vs E5">
            <a:extLst>
              <a:ext uri="{FF2B5EF4-FFF2-40B4-BE49-F238E27FC236}">
                <a16:creationId xmlns:a16="http://schemas.microsoft.com/office/drawing/2014/main" id="{B8C4F8B5-3B57-D8C0-88B9-0168F40AA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00800" cy="2898183"/>
          </a:xfrm>
          <a:prstGeom prst="rect">
            <a:avLst/>
          </a:prstGeom>
        </p:spPr>
      </p:pic>
      <p:sp>
        <p:nvSpPr>
          <p:cNvPr id="11" name="Formule des poids">
            <a:extLst>
              <a:ext uri="{FF2B5EF4-FFF2-40B4-BE49-F238E27FC236}">
                <a16:creationId xmlns:a16="http://schemas.microsoft.com/office/drawing/2014/main" id="{0A689D21-A296-95AB-886B-B3DFF6840906}"/>
              </a:ext>
            </a:extLst>
          </p:cNvPr>
          <p:cNvSpPr/>
          <p:nvPr/>
        </p:nvSpPr>
        <p:spPr>
          <a:xfrm>
            <a:off x="548640" y="4772703"/>
            <a:ext cx="6400800" cy="1490936"/>
          </a:xfrm>
          <a:prstGeom prst="roundRect">
            <a:avLst>
              <a:gd name="adj" fmla="val 7359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1600" b="1" i="0">
                <a:solidFill>
                  <a:schemeClr val="accent1"/>
                </a:solidFill>
              </a:rPr>
              <a:t>Poids de chaque classe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w</a:t>
            </a:r>
            <a:r>
              <a:rPr sz="1600" b="0" i="0" baseline="-25000">
                <a:solidFill>
                  <a:schemeClr val="tx1">
                    <a:lumMod val="95000"/>
                    <a:lumOff val="5000"/>
                  </a:schemeClr>
                </a:solidFill>
              </a:rPr>
              <a:t>k</a:t>
            </a: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 = √( N / (7 × N</a:t>
            </a:r>
            <a:r>
              <a:rPr sz="1600" b="0" i="0" baseline="-25000">
                <a:solidFill>
                  <a:schemeClr val="tx1">
                    <a:lumMod val="95000"/>
                    <a:lumOff val="5000"/>
                  </a:schemeClr>
                </a:solidFill>
              </a:rPr>
              <a:t>k</a:t>
            </a: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) )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Dégoût : 3,07 · Joie : 0,75. La racine évite un poids 16 fois plus grand pour Dégoût.</a:t>
            </a:r>
          </a:p>
        </p:txBody>
      </p:sp>
      <p:sp>
        <p:nvSpPr>
          <p:cNvPr id="12" name="Classes qui progressent">
            <a:extLst>
              <a:ext uri="{FF2B5EF4-FFF2-40B4-BE49-F238E27FC236}">
                <a16:creationId xmlns:a16="http://schemas.microsoft.com/office/drawing/2014/main" id="{997652DA-547B-5AF9-D2BC-B556691EDC93}"/>
              </a:ext>
            </a:extLst>
          </p:cNvPr>
          <p:cNvSpPr/>
          <p:nvPr/>
        </p:nvSpPr>
        <p:spPr>
          <a:xfrm>
            <a:off x="7360919" y="1600200"/>
            <a:ext cx="4282440" cy="1417320"/>
          </a:xfrm>
          <a:prstGeom prst="roundRect">
            <a:avLst>
              <a:gd name="adj" fmla="val 7741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1800" b="1" i="0">
                <a:solidFill>
                  <a:schemeClr val="accent1"/>
                </a:solidFill>
              </a:rPr>
              <a:t>Classes qui progressent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Dégoût : 0,29 → 0,38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Colère : 0,64 → 0,68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Neutre et Surprise aussi</a:t>
            </a:r>
          </a:p>
        </p:txBody>
      </p:sp>
      <p:sp>
        <p:nvSpPr>
          <p:cNvPr id="13" name="Classes qui reculent">
            <a:extLst>
              <a:ext uri="{FF2B5EF4-FFF2-40B4-BE49-F238E27FC236}">
                <a16:creationId xmlns:a16="http://schemas.microsoft.com/office/drawing/2014/main" id="{A6B06572-218B-A195-1E12-93EF59018156}"/>
              </a:ext>
            </a:extLst>
          </p:cNvPr>
          <p:cNvSpPr/>
          <p:nvPr/>
        </p:nvSpPr>
        <p:spPr>
          <a:xfrm>
            <a:off x="7360919" y="3246120"/>
            <a:ext cx="4282440" cy="1417320"/>
          </a:xfrm>
          <a:prstGeom prst="roundRect">
            <a:avLst>
              <a:gd name="adj" fmla="val 7741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1800" b="1" i="0">
                <a:solidFill>
                  <a:schemeClr val="accent1"/>
                </a:solidFill>
              </a:rPr>
              <a:t>Classes qui reculent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Tristesse : 0,51 → 0,41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Peur : 0,46 → 0,40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Joie : 0,88 → 0,84</a:t>
            </a:r>
          </a:p>
        </p:txBody>
      </p:sp>
      <p:sp>
        <p:nvSpPr>
          <p:cNvPr id="14" name="Bilan E5">
            <a:extLst>
              <a:ext uri="{FF2B5EF4-FFF2-40B4-BE49-F238E27FC236}">
                <a16:creationId xmlns:a16="http://schemas.microsoft.com/office/drawing/2014/main" id="{D774E0A1-C077-A5C8-CD2A-45B800619D0D}"/>
              </a:ext>
            </a:extLst>
          </p:cNvPr>
          <p:cNvSpPr/>
          <p:nvPr/>
        </p:nvSpPr>
        <p:spPr>
          <a:xfrm>
            <a:off x="7360919" y="4892040"/>
            <a:ext cx="4282440" cy="1371600"/>
          </a:xfrm>
          <a:prstGeom prst="roundRect">
            <a:avLst>
              <a:gd name="adj" fmla="val 800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1600" b="1" i="0">
                <a:solidFill>
                  <a:schemeClr val="bg1"/>
                </a:solidFill>
              </a:rPr>
              <a:t>Bilan : E5 non retenu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</a:rPr>
              <a:t>Accuracy 0,642 et macro-F1 0,597, inférieurs à E4 et E2.</a:t>
            </a:r>
          </a:p>
        </p:txBody>
      </p:sp>
    </p:spTree>
    <p:extLst>
      <p:ext uri="{BB962C8B-B14F-4D97-AF65-F5344CB8AC3E}">
        <p14:creationId xmlns:p14="http://schemas.microsoft.com/office/powerpoint/2010/main" val="2159555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eau titre">
            <a:extLst>
              <a:ext uri="{FF2B5EF4-FFF2-40B4-BE49-F238E27FC236}">
                <a16:creationId xmlns:a16="http://schemas.microsoft.com/office/drawing/2014/main" id="{1C2F38D5-9A94-1047-A6E6-B0B03BC493B2}"/>
              </a:ext>
            </a:extLst>
          </p:cNvPr>
          <p:cNvSpPr/>
          <p:nvPr/>
        </p:nvSpPr>
        <p:spPr>
          <a:xfrm>
            <a:off x="0" y="0"/>
            <a:ext cx="12192000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02F8CD-88A0-795A-5E59-7816451D8D0F}"/>
              </a:ext>
            </a:extLst>
          </p:cNvPr>
          <p:cNvSpPr>
            <a:spLocks noGrp="1"/>
          </p:cNvSpPr>
          <p:nvPr/>
        </p:nvSpPr>
        <p:spPr>
          <a:xfrm>
            <a:off x="469725" y="392876"/>
            <a:ext cx="11253722" cy="52322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ranklin Gothic"/>
              </a:rPr>
              <a:t>Choix du </a:t>
            </a:r>
            <a:r>
              <a:rPr lang="en-US" sz="2800" err="1">
                <a:solidFill>
                  <a:schemeClr val="bg1"/>
                </a:solidFill>
                <a:latin typeface="Franklin Gothic"/>
              </a:rPr>
              <a:t>modèle</a:t>
            </a:r>
            <a:r>
              <a:rPr lang="en-US" sz="2800">
                <a:solidFill>
                  <a:schemeClr val="bg1"/>
                </a:solidFill>
                <a:latin typeface="Franklin Gothic"/>
              </a:rPr>
              <a:t> final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30B0D7-F59E-820F-3D82-60678F5EDC68}"/>
              </a:ext>
            </a:extLst>
          </p:cNvPr>
          <p:cNvSpPr txBox="1"/>
          <p:nvPr/>
        </p:nvSpPr>
        <p:spPr>
          <a:xfrm>
            <a:off x="667658" y="1884072"/>
            <a:ext cx="475569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Pour le choix du modèle final qu'on conserve avant de le tester, on utilise le macro-F1 comme métrique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05614-2AB3-ECCB-F807-34A3EADC2BC4}"/>
              </a:ext>
            </a:extLst>
          </p:cNvPr>
          <p:cNvSpPr txBox="1"/>
          <p:nvPr/>
        </p:nvSpPr>
        <p:spPr>
          <a:xfrm>
            <a:off x="667658" y="3429843"/>
            <a:ext cx="475569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On conserve le modèle E2 (Dropout + Batch Normalization), c'est le modèle avec le Macro-F1 le plus élevé sur le jeu de validation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1C8615-385A-CA11-6B50-87E05A7F5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48215"/>
              </p:ext>
            </p:extLst>
          </p:nvPr>
        </p:nvGraphicFramePr>
        <p:xfrm>
          <a:off x="6171127" y="1856704"/>
          <a:ext cx="5551698" cy="455612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5446">
                  <a:extLst>
                    <a:ext uri="{9D8B030D-6E8A-4147-A177-3AD203B41FA5}">
                      <a16:colId xmlns:a16="http://schemas.microsoft.com/office/drawing/2014/main" val="302072396"/>
                    </a:ext>
                  </a:extLst>
                </a:gridCol>
                <a:gridCol w="773075">
                  <a:extLst>
                    <a:ext uri="{9D8B030D-6E8A-4147-A177-3AD203B41FA5}">
                      <a16:colId xmlns:a16="http://schemas.microsoft.com/office/drawing/2014/main" val="16826187"/>
                    </a:ext>
                  </a:extLst>
                </a:gridCol>
                <a:gridCol w="611663">
                  <a:extLst>
                    <a:ext uri="{9D8B030D-6E8A-4147-A177-3AD203B41FA5}">
                      <a16:colId xmlns:a16="http://schemas.microsoft.com/office/drawing/2014/main" val="791329698"/>
                    </a:ext>
                  </a:extLst>
                </a:gridCol>
                <a:gridCol w="611663">
                  <a:extLst>
                    <a:ext uri="{9D8B030D-6E8A-4147-A177-3AD203B41FA5}">
                      <a16:colId xmlns:a16="http://schemas.microsoft.com/office/drawing/2014/main" val="2232324610"/>
                    </a:ext>
                  </a:extLst>
                </a:gridCol>
                <a:gridCol w="611663">
                  <a:extLst>
                    <a:ext uri="{9D8B030D-6E8A-4147-A177-3AD203B41FA5}">
                      <a16:colId xmlns:a16="http://schemas.microsoft.com/office/drawing/2014/main" val="1296616582"/>
                    </a:ext>
                  </a:extLst>
                </a:gridCol>
                <a:gridCol w="692369">
                  <a:extLst>
                    <a:ext uri="{9D8B030D-6E8A-4147-A177-3AD203B41FA5}">
                      <a16:colId xmlns:a16="http://schemas.microsoft.com/office/drawing/2014/main" val="3747223472"/>
                    </a:ext>
                  </a:extLst>
                </a:gridCol>
                <a:gridCol w="785819">
                  <a:extLst>
                    <a:ext uri="{9D8B030D-6E8A-4147-A177-3AD203B41FA5}">
                      <a16:colId xmlns:a16="http://schemas.microsoft.com/office/drawing/2014/main" val="3169792838"/>
                    </a:ext>
                  </a:extLst>
                </a:gridCol>
              </a:tblGrid>
              <a:tr h="58780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Modèle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Paramètres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Époques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Acc. train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3">
                      <a:solidFill>
                        <a:srgbClr val="FFFFFF"/>
                      </a:solidFill>
                    </a:lnR>
                    <a:lnT w="10953">
                      <a:solidFill>
                        <a:srgbClr val="FFFFFF"/>
                      </a:solidFill>
                    </a:lnT>
                    <a:lnB w="32860">
                      <a:solidFill>
                        <a:srgbClr val="FFFFFF"/>
                      </a:solidFill>
                    </a:lnB>
                    <a:solidFill>
                      <a:srgbClr val="0B30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Acc. val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Macro-F1 val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Écart train-val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648941"/>
                  </a:ext>
                </a:extLst>
              </a:tr>
              <a:tr h="508372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MLP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623 879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51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0.479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3">
                      <a:solidFill>
                        <a:srgbClr val="FFFFFF"/>
                      </a:solidFill>
                    </a:lnR>
                    <a:lnT w="32860">
                      <a:solidFill>
                        <a:srgbClr val="FFFFFF"/>
                      </a:solidFill>
                    </a:lnT>
                    <a:lnB w="10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0,410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0,324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0,068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6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851184"/>
                  </a:ext>
                </a:extLst>
              </a:tr>
              <a:tr h="508372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E0 · CNN de base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1 468 135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25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0.953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3">
                      <a:solidFill>
                        <a:srgbClr val="FFFFFF"/>
                      </a:solidFill>
                    </a:lnR>
                    <a:lnT w="10953">
                      <a:solidFill>
                        <a:srgbClr val="FFFFFF"/>
                      </a:solidFill>
                    </a:lnT>
                    <a:lnB w="10953">
                      <a:solidFill>
                        <a:srgbClr val="FFFFFF"/>
                      </a:solidFill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0,547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0,514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0,406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292270"/>
                  </a:ext>
                </a:extLst>
              </a:tr>
              <a:tr h="508372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E1 · + Dropout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1 468 135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38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0.734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3">
                      <a:solidFill>
                        <a:srgbClr val="FFFFFF"/>
                      </a:solidFill>
                    </a:lnR>
                    <a:lnT w="10953">
                      <a:solidFill>
                        <a:srgbClr val="FFFFFF"/>
                      </a:solidFill>
                    </a:lnT>
                    <a:lnB w="10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0,606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0,577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0,129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694294"/>
                  </a:ext>
                </a:extLst>
              </a:tr>
              <a:tr h="58780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E2 · + Dropout + BatchNorm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1 470 503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53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0.895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3">
                      <a:solidFill>
                        <a:srgbClr val="FFFFFF"/>
                      </a:solidFill>
                    </a:lnR>
                    <a:lnT w="10953">
                      <a:solidFill>
                        <a:srgbClr val="FFFFFF"/>
                      </a:solidFill>
                    </a:lnT>
                    <a:lnB w="10953">
                      <a:solidFill>
                        <a:srgbClr val="FFFFFF"/>
                      </a:solidFill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0,647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0,623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1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0,248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691690"/>
                  </a:ext>
                </a:extLst>
              </a:tr>
              <a:tr h="508372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E3 · + Augmentation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1 470 503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52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0.639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3">
                      <a:solidFill>
                        <a:srgbClr val="FFFFFF"/>
                      </a:solidFill>
                    </a:lnR>
                    <a:lnT w="10953">
                      <a:solidFill>
                        <a:srgbClr val="FFFFFF"/>
                      </a:solidFill>
                    </a:lnT>
                    <a:lnB w="10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0,632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0,568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0,006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528009"/>
                  </a:ext>
                </a:extLst>
              </a:tr>
              <a:tr h="508372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E4 · Filtres × 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3 509 319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61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0.717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3">
                      <a:solidFill>
                        <a:srgbClr val="FFFFFF"/>
                      </a:solidFill>
                    </a:lnR>
                    <a:lnT w="10953">
                      <a:solidFill>
                        <a:srgbClr val="FFFFFF"/>
                      </a:solidFill>
                    </a:lnT>
                    <a:lnB w="10953">
                      <a:solidFill>
                        <a:srgbClr val="FFFFFF"/>
                      </a:solidFill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0,661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0,612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0,056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740232"/>
                  </a:ext>
                </a:extLst>
              </a:tr>
              <a:tr h="58780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E5 · Pondération des classes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3 509 319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042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/>
                        </a:rPr>
                        <a:t>0.637</a:t>
                      </a: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3">
                      <a:solidFill>
                        <a:srgbClr val="FFFFFF"/>
                      </a:solidFill>
                    </a:lnR>
                    <a:lnT w="10953">
                      <a:solidFill>
                        <a:srgbClr val="FFFFFF"/>
                      </a:solidFill>
                    </a:lnT>
                    <a:lnB w="10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0,642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0,597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400" b="0" i="0">
                          <a:solidFill>
                            <a:srgbClr val="0D0D0D"/>
                          </a:solidFill>
                          <a:effectLst/>
                          <a:latin typeface="Aptos" panose="020B0004020202020204" pitchFamily="34" charset="0"/>
                        </a:rPr>
                        <a:t>−0,005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9728" marR="109728" marT="36576" marB="36576" anchor="ctr">
                    <a:lnL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650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243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eau titre">
            <a:extLst>
              <a:ext uri="{FF2B5EF4-FFF2-40B4-BE49-F238E27FC236}">
                <a16:creationId xmlns:a16="http://schemas.microsoft.com/office/drawing/2014/main" id="{448AE705-17A0-4BD9-0CB0-6C1FDD31D3BF}"/>
              </a:ext>
            </a:extLst>
          </p:cNvPr>
          <p:cNvSpPr/>
          <p:nvPr/>
        </p:nvSpPr>
        <p:spPr>
          <a:xfrm>
            <a:off x="0" y="0"/>
            <a:ext cx="12192000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5228BF-E89A-E77A-CD20-F8CE66B37FA3}"/>
              </a:ext>
            </a:extLst>
          </p:cNvPr>
          <p:cNvSpPr>
            <a:spLocks noGrp="1"/>
          </p:cNvSpPr>
          <p:nvPr/>
        </p:nvSpPr>
        <p:spPr>
          <a:xfrm>
            <a:off x="469725" y="392876"/>
            <a:ext cx="11253722" cy="52322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ranklin Gothic"/>
              </a:rPr>
              <a:t>Évaluation finale sur jeu de test</a:t>
            </a: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8" name="Résultats sur le jeu de test">
            <a:extLst>
              <a:ext uri="{FF2B5EF4-FFF2-40B4-BE49-F238E27FC236}">
                <a16:creationId xmlns:a16="http://schemas.microsoft.com/office/drawing/2014/main" id="{8023A250-9F14-3D94-4CC2-103FD4FCD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132506"/>
              </p:ext>
            </p:extLst>
          </p:nvPr>
        </p:nvGraphicFramePr>
        <p:xfrm>
          <a:off x="946205" y="1698046"/>
          <a:ext cx="69494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DAC3BB-6B57-7B8A-BEFB-D5C5F52BF970}"/>
              </a:ext>
            </a:extLst>
          </p:cNvPr>
          <p:cNvSpPr txBox="1"/>
          <p:nvPr/>
        </p:nvSpPr>
        <p:spPr>
          <a:xfrm>
            <a:off x="8199310" y="1873028"/>
            <a:ext cx="351882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On évalue le modèle sur le jeu de test :  7178 images qui n'ont jamais été utilisées pour l'entraînement.</a:t>
            </a:r>
          </a:p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Accuracy test">
            <a:extLst>
              <a:ext uri="{FF2B5EF4-FFF2-40B4-BE49-F238E27FC236}">
                <a16:creationId xmlns:a16="http://schemas.microsoft.com/office/drawing/2014/main" id="{1D8586D9-C7DD-D41E-B20F-63F142F6E277}"/>
              </a:ext>
            </a:extLst>
          </p:cNvPr>
          <p:cNvSpPr/>
          <p:nvPr/>
        </p:nvSpPr>
        <p:spPr>
          <a:xfrm>
            <a:off x="8195144" y="3212548"/>
            <a:ext cx="3779520" cy="1371600"/>
          </a:xfrm>
          <a:prstGeom prst="roundRect">
            <a:avLst>
              <a:gd name="adj" fmla="val 8000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lang="en-US" sz="4000" b="1">
                <a:solidFill>
                  <a:schemeClr val="accent1"/>
                </a:solidFill>
              </a:rPr>
              <a:t>0.655</a:t>
            </a:r>
            <a:endParaRPr lang="en-US" sz="4000" b="1" i="0">
              <a:solidFill>
                <a:schemeClr val="accent1"/>
              </a:solidFill>
            </a:endParaRP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accuracy du modèle final</a:t>
            </a:r>
          </a:p>
        </p:txBody>
      </p:sp>
      <p:sp>
        <p:nvSpPr>
          <p:cNvPr id="12" name="Macro-F1 test">
            <a:extLst>
              <a:ext uri="{FF2B5EF4-FFF2-40B4-BE49-F238E27FC236}">
                <a16:creationId xmlns:a16="http://schemas.microsoft.com/office/drawing/2014/main" id="{4E50BF04-EF62-8302-63B7-7EB549420CE6}"/>
              </a:ext>
            </a:extLst>
          </p:cNvPr>
          <p:cNvSpPr/>
          <p:nvPr/>
        </p:nvSpPr>
        <p:spPr>
          <a:xfrm>
            <a:off x="8195144" y="4812748"/>
            <a:ext cx="3779520" cy="1371600"/>
          </a:xfrm>
          <a:prstGeom prst="roundRect">
            <a:avLst>
              <a:gd name="adj" fmla="val 8000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lang="en-US" sz="4000" b="1">
                <a:solidFill>
                  <a:schemeClr val="accent1"/>
                </a:solidFill>
              </a:rPr>
              <a:t>0.643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chemeClr val="tx1">
                    <a:lumMod val="95000"/>
                    <a:lumOff val="5000"/>
                  </a:schemeClr>
                </a:solidFill>
              </a:rPr>
              <a:t>macro-F1 du modèle final</a:t>
            </a:r>
          </a:p>
        </p:txBody>
      </p:sp>
    </p:spTree>
    <p:extLst>
      <p:ext uri="{BB962C8B-B14F-4D97-AF65-F5344CB8AC3E}">
        <p14:creationId xmlns:p14="http://schemas.microsoft.com/office/powerpoint/2010/main" val="4100374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53_1.png">
            <a:extLst>
              <a:ext uri="{FF2B5EF4-FFF2-40B4-BE49-F238E27FC236}">
                <a16:creationId xmlns:a16="http://schemas.microsoft.com/office/drawing/2014/main" id="{5E01477B-912A-31EE-1E9D-BF52A868E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213"/>
          <a:stretch>
            <a:fillRect/>
          </a:stretch>
        </p:blipFill>
        <p:spPr>
          <a:xfrm>
            <a:off x="846174" y="1716768"/>
            <a:ext cx="5252075" cy="4754109"/>
          </a:xfrm>
          <a:prstGeom prst="rect">
            <a:avLst/>
          </a:prstGeom>
        </p:spPr>
      </p:pic>
      <p:sp>
        <p:nvSpPr>
          <p:cNvPr id="6" name="Bandeau titre">
            <a:extLst>
              <a:ext uri="{FF2B5EF4-FFF2-40B4-BE49-F238E27FC236}">
                <a16:creationId xmlns:a16="http://schemas.microsoft.com/office/drawing/2014/main" id="{B866D613-C985-BD5E-2E6C-4E1DD6D52E69}"/>
              </a:ext>
            </a:extLst>
          </p:cNvPr>
          <p:cNvSpPr/>
          <p:nvPr/>
        </p:nvSpPr>
        <p:spPr>
          <a:xfrm>
            <a:off x="0" y="0"/>
            <a:ext cx="12192000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D55E5CC-CDE4-8EBB-82E1-AC1FCE633A0D}"/>
              </a:ext>
            </a:extLst>
          </p:cNvPr>
          <p:cNvSpPr>
            <a:spLocks noGrp="1"/>
          </p:cNvSpPr>
          <p:nvPr/>
        </p:nvSpPr>
        <p:spPr>
          <a:xfrm>
            <a:off x="469725" y="392876"/>
            <a:ext cx="11253722" cy="52322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ranklin Gothic"/>
              </a:rPr>
              <a:t>Évaluation finale sur jeu de test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lasses qui progressent">
            <a:extLst>
              <a:ext uri="{FF2B5EF4-FFF2-40B4-BE49-F238E27FC236}">
                <a16:creationId xmlns:a16="http://schemas.microsoft.com/office/drawing/2014/main" id="{CD26B8C6-C8FB-0E71-FD2B-31384BD6A54F}"/>
              </a:ext>
            </a:extLst>
          </p:cNvPr>
          <p:cNvSpPr/>
          <p:nvPr/>
        </p:nvSpPr>
        <p:spPr>
          <a:xfrm>
            <a:off x="7339148" y="1719943"/>
            <a:ext cx="4282440" cy="1417320"/>
          </a:xfrm>
          <a:prstGeom prst="roundRect">
            <a:avLst>
              <a:gd name="adj" fmla="val 7741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sz="1800" b="1" i="0">
                <a:solidFill>
                  <a:schemeClr val="accent1"/>
                </a:solidFill>
              </a:rPr>
              <a:t>Classes </a:t>
            </a:r>
            <a:r>
              <a:rPr lang="en-US" b="1">
                <a:solidFill>
                  <a:schemeClr val="accent1"/>
                </a:solidFill>
              </a:rPr>
              <a:t>les mieux prédites</a:t>
            </a:r>
            <a:endParaRPr lang="en-US">
              <a:solidFill>
                <a:schemeClr val="accent1"/>
              </a:solidFill>
            </a:endParaRPr>
          </a:p>
          <a:p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Joie : 0.86</a:t>
            </a:r>
          </a:p>
          <a:p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Surprise 0.80</a:t>
            </a:r>
          </a:p>
          <a:p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Neutre 0.65</a:t>
            </a:r>
          </a:p>
        </p:txBody>
      </p:sp>
      <p:sp>
        <p:nvSpPr>
          <p:cNvPr id="5" name="Classes qui progressent">
            <a:extLst>
              <a:ext uri="{FF2B5EF4-FFF2-40B4-BE49-F238E27FC236}">
                <a16:creationId xmlns:a16="http://schemas.microsoft.com/office/drawing/2014/main" id="{8F210406-3251-730D-8360-319BB484B420}"/>
              </a:ext>
            </a:extLst>
          </p:cNvPr>
          <p:cNvSpPr/>
          <p:nvPr/>
        </p:nvSpPr>
        <p:spPr>
          <a:xfrm>
            <a:off x="7339148" y="4953000"/>
            <a:ext cx="4282440" cy="1417320"/>
          </a:xfrm>
          <a:prstGeom prst="roundRect">
            <a:avLst>
              <a:gd name="adj" fmla="val 7741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sz="1800" b="1" i="0">
                <a:solidFill>
                  <a:schemeClr val="accent1"/>
                </a:solidFill>
              </a:rPr>
              <a:t>Classes </a:t>
            </a:r>
            <a:r>
              <a:rPr lang="en-US" b="1">
                <a:solidFill>
                  <a:schemeClr val="accent1"/>
                </a:solidFill>
              </a:rPr>
              <a:t>les plus confondues</a:t>
            </a:r>
            <a:endParaRPr lang="en-US">
              <a:solidFill>
                <a:schemeClr val="accent1"/>
              </a:solidFill>
            </a:endParaRPr>
          </a:p>
          <a:p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Dégoût -&gt; Colère : 0.21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Peur -&gt; Tristesse : 0.20</a:t>
            </a:r>
          </a:p>
          <a:p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Tristesse -&gt; Neutre : 0.18</a:t>
            </a:r>
          </a:p>
        </p:txBody>
      </p:sp>
      <p:sp>
        <p:nvSpPr>
          <p:cNvPr id="7" name="Classes qui progressent">
            <a:extLst>
              <a:ext uri="{FF2B5EF4-FFF2-40B4-BE49-F238E27FC236}">
                <a16:creationId xmlns:a16="http://schemas.microsoft.com/office/drawing/2014/main" id="{04F554E8-37EE-D20A-2F85-FC35A02D56A1}"/>
              </a:ext>
            </a:extLst>
          </p:cNvPr>
          <p:cNvSpPr/>
          <p:nvPr/>
        </p:nvSpPr>
        <p:spPr>
          <a:xfrm>
            <a:off x="7339147" y="3385456"/>
            <a:ext cx="4282440" cy="1417320"/>
          </a:xfrm>
          <a:prstGeom prst="roundRect">
            <a:avLst>
              <a:gd name="adj" fmla="val 7741"/>
            </a:avLst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sz="1800" b="1" i="0">
                <a:solidFill>
                  <a:schemeClr val="accent1"/>
                </a:solidFill>
              </a:rPr>
              <a:t>Classes </a:t>
            </a:r>
            <a:r>
              <a:rPr lang="en-US" b="1">
                <a:solidFill>
                  <a:schemeClr val="accent1"/>
                </a:solidFill>
              </a:rPr>
              <a:t>les moins bien prédites</a:t>
            </a:r>
            <a:endParaRPr lang="en-US">
              <a:solidFill>
                <a:schemeClr val="accent1"/>
              </a:solidFill>
            </a:endParaRPr>
          </a:p>
          <a:p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Peur : 0.45</a:t>
            </a:r>
          </a:p>
          <a:p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Tristesse : 0.53</a:t>
            </a:r>
          </a:p>
          <a:p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Colère : 0.55</a:t>
            </a:r>
          </a:p>
        </p:txBody>
      </p:sp>
    </p:spTree>
    <p:extLst>
      <p:ext uri="{BB962C8B-B14F-4D97-AF65-F5344CB8AC3E}">
        <p14:creationId xmlns:p14="http://schemas.microsoft.com/office/powerpoint/2010/main" val="1474721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eau titre">
            <a:extLst>
              <a:ext uri="{FF2B5EF4-FFF2-40B4-BE49-F238E27FC236}">
                <a16:creationId xmlns:a16="http://schemas.microsoft.com/office/drawing/2014/main" id="{1F4A3801-AF37-20B7-CCC7-B1AB6A2E09CA}"/>
              </a:ext>
            </a:extLst>
          </p:cNvPr>
          <p:cNvSpPr/>
          <p:nvPr/>
        </p:nvSpPr>
        <p:spPr>
          <a:xfrm>
            <a:off x="0" y="0"/>
            <a:ext cx="12192000" cy="13198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07F1B7D-0A09-2BE9-6566-C74BF3324CD3}"/>
              </a:ext>
            </a:extLst>
          </p:cNvPr>
          <p:cNvSpPr>
            <a:spLocks noGrp="1"/>
          </p:cNvSpPr>
          <p:nvPr/>
        </p:nvSpPr>
        <p:spPr>
          <a:xfrm>
            <a:off x="469725" y="392876"/>
            <a:ext cx="11253722" cy="52322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Franklin Gothic"/>
              </a:rPr>
              <a:t>Conclusion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Badge E0">
            <a:extLst>
              <a:ext uri="{FF2B5EF4-FFF2-40B4-BE49-F238E27FC236}">
                <a16:creationId xmlns:a16="http://schemas.microsoft.com/office/drawing/2014/main" id="{9FED0E1D-2760-9A26-04DB-590AC4F2EC7D}"/>
              </a:ext>
            </a:extLst>
          </p:cNvPr>
          <p:cNvSpPr/>
          <p:nvPr/>
        </p:nvSpPr>
        <p:spPr>
          <a:xfrm>
            <a:off x="777240" y="2155371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US" sz="1600" b="1">
                <a:solidFill>
                  <a:schemeClr val="bg1"/>
                </a:solidFill>
              </a:rPr>
              <a:t>1</a:t>
            </a:r>
            <a:endParaRPr lang="en-US" sz="1600" b="1" i="0">
              <a:solidFill>
                <a:schemeClr val="bg1"/>
              </a:solidFill>
            </a:endParaRPr>
          </a:p>
        </p:txBody>
      </p:sp>
      <p:sp>
        <p:nvSpPr>
          <p:cNvPr id="6" name="Titre E0">
            <a:extLst>
              <a:ext uri="{FF2B5EF4-FFF2-40B4-BE49-F238E27FC236}">
                <a16:creationId xmlns:a16="http://schemas.microsoft.com/office/drawing/2014/main" id="{CFBC7B7A-742F-D714-E1AE-EDCF0254B7EB}"/>
              </a:ext>
            </a:extLst>
          </p:cNvPr>
          <p:cNvSpPr txBox="1"/>
          <p:nvPr/>
        </p:nvSpPr>
        <p:spPr>
          <a:xfrm>
            <a:off x="1554480" y="1828800"/>
            <a:ext cx="3961674" cy="6400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Le CNN est 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nettem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ent plus performant 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que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le MLP</a:t>
            </a:r>
            <a:endParaRPr lang="en-US" sz="1800" b="1" i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C242C-F126-6E43-5129-167D86AF7AD0}"/>
              </a:ext>
            </a:extLst>
          </p:cNvPr>
          <p:cNvSpPr txBox="1"/>
          <p:nvPr/>
        </p:nvSpPr>
        <p:spPr>
          <a:xfrm>
            <a:off x="1549401" y="2471900"/>
            <a:ext cx="452709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Le CNN,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même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 "de base", est plus performant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que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le MLP, 0.55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d'accuracy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contre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0.40 (0.52 à 0.32 de macro-f1)</a:t>
            </a:r>
          </a:p>
          <a:p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L'architecture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du CNN est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donc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nettement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plus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adaptée</a:t>
            </a:r>
          </a:p>
        </p:txBody>
      </p:sp>
      <p:sp>
        <p:nvSpPr>
          <p:cNvPr id="10" name="Badge E0">
            <a:extLst>
              <a:ext uri="{FF2B5EF4-FFF2-40B4-BE49-F238E27FC236}">
                <a16:creationId xmlns:a16="http://schemas.microsoft.com/office/drawing/2014/main" id="{5EB2C1D7-6BB7-8519-1EC2-CECB161B2F99}"/>
              </a:ext>
            </a:extLst>
          </p:cNvPr>
          <p:cNvSpPr/>
          <p:nvPr/>
        </p:nvSpPr>
        <p:spPr>
          <a:xfrm>
            <a:off x="777240" y="5018314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US" sz="1600" b="1">
                <a:solidFill>
                  <a:schemeClr val="bg1"/>
                </a:solidFill>
              </a:rPr>
              <a:t>2</a:t>
            </a:r>
            <a:endParaRPr lang="en-US" sz="1600" b="1" i="0">
              <a:solidFill>
                <a:schemeClr val="bg1"/>
              </a:solidFill>
            </a:endParaRPr>
          </a:p>
        </p:txBody>
      </p:sp>
      <p:sp>
        <p:nvSpPr>
          <p:cNvPr id="11" name="Titre E0">
            <a:extLst>
              <a:ext uri="{FF2B5EF4-FFF2-40B4-BE49-F238E27FC236}">
                <a16:creationId xmlns:a16="http://schemas.microsoft.com/office/drawing/2014/main" id="{B40DE621-C7DA-1DF1-3FE5-5A81D2FBBA80}"/>
              </a:ext>
            </a:extLst>
          </p:cNvPr>
          <p:cNvSpPr txBox="1"/>
          <p:nvPr/>
        </p:nvSpPr>
        <p:spPr>
          <a:xfrm>
            <a:off x="1554480" y="4517571"/>
            <a:ext cx="3961674" cy="6400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La 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régularisation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fait 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une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vraie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différence</a:t>
            </a:r>
            <a:endParaRPr lang="en-US" err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8D281F-8315-CFAF-721B-AA9A0B68232E}"/>
              </a:ext>
            </a:extLst>
          </p:cNvPr>
          <p:cNvSpPr txBox="1"/>
          <p:nvPr/>
        </p:nvSpPr>
        <p:spPr>
          <a:xfrm>
            <a:off x="1549401" y="5160672"/>
            <a:ext cx="42440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Avec du Dropout et du batch normalization on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gagne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0.10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en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accuracy et 0.12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</a:rPr>
              <a:t>en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macro-F1</a:t>
            </a:r>
          </a:p>
        </p:txBody>
      </p:sp>
      <p:sp>
        <p:nvSpPr>
          <p:cNvPr id="13" name="Badge E0">
            <a:extLst>
              <a:ext uri="{FF2B5EF4-FFF2-40B4-BE49-F238E27FC236}">
                <a16:creationId xmlns:a16="http://schemas.microsoft.com/office/drawing/2014/main" id="{B92C28CB-BA7C-F2AA-BEAD-B0D0C8D57135}"/>
              </a:ext>
            </a:extLst>
          </p:cNvPr>
          <p:cNvSpPr/>
          <p:nvPr/>
        </p:nvSpPr>
        <p:spPr>
          <a:xfrm>
            <a:off x="6524896" y="2155371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US" sz="1600" b="1">
                <a:solidFill>
                  <a:schemeClr val="bg1"/>
                </a:solidFill>
              </a:rPr>
              <a:t>3</a:t>
            </a:r>
            <a:endParaRPr lang="en-US" sz="1600" b="1" i="0">
              <a:solidFill>
                <a:schemeClr val="bg1"/>
              </a:solidFill>
            </a:endParaRPr>
          </a:p>
        </p:txBody>
      </p:sp>
      <p:sp>
        <p:nvSpPr>
          <p:cNvPr id="14" name="Titre E0">
            <a:extLst>
              <a:ext uri="{FF2B5EF4-FFF2-40B4-BE49-F238E27FC236}">
                <a16:creationId xmlns:a16="http://schemas.microsoft.com/office/drawing/2014/main" id="{555EBD5A-7CDA-92C1-4D18-BD608844FC7C}"/>
              </a:ext>
            </a:extLst>
          </p:cNvPr>
          <p:cNvSpPr txBox="1"/>
          <p:nvPr/>
        </p:nvSpPr>
        <p:spPr>
          <a:xfrm>
            <a:off x="7401795" y="1828800"/>
            <a:ext cx="3961674" cy="6400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Certaines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expreessions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restent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difficiles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à </a:t>
            </a:r>
            <a:r>
              <a:rPr lang="en-US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indentifier</a:t>
            </a:r>
            <a:endParaRPr lang="en-US" err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B8E21-3F95-D968-DA75-FFBBCE3B6B94}"/>
              </a:ext>
            </a:extLst>
          </p:cNvPr>
          <p:cNvSpPr txBox="1"/>
          <p:nvPr/>
        </p:nvSpPr>
        <p:spPr>
          <a:xfrm>
            <a:off x="7396716" y="2471900"/>
            <a:ext cx="452709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 peur ou la tristesse sont les émotions les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plus difficiles à identifier pour le CNN, avec des scores de 0.45 et 0.53</a:t>
            </a:r>
          </a:p>
        </p:txBody>
      </p:sp>
    </p:spTree>
    <p:extLst>
      <p:ext uri="{BB962C8B-B14F-4D97-AF65-F5344CB8AC3E}">
        <p14:creationId xmlns:p14="http://schemas.microsoft.com/office/powerpoint/2010/main" val="22197312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Thème Office</vt:lpstr>
      <vt:lpstr>Reconnaissance d’expressions faciales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</cp:revision>
  <dcterms:created xsi:type="dcterms:W3CDTF">2026-10-07T13:54:53Z</dcterms:created>
  <dcterms:modified xsi:type="dcterms:W3CDTF">2026-10-09T11:01:03Z</dcterms:modified>
</cp:coreProperties>
</file>